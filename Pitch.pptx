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305" r:id="rId2"/>
    <p:sldId id="301" r:id="rId3"/>
    <p:sldId id="306" r:id="rId4"/>
    <p:sldId id="309" r:id="rId5"/>
    <p:sldId id="307" r:id="rId6"/>
    <p:sldId id="308" r:id="rId7"/>
  </p:sldIdLst>
  <p:sldSz cx="12192000" cy="6858000"/>
  <p:notesSz cx="6858000" cy="9144000"/>
  <p:defaultTextStyle>
    <a:defPPr>
      <a:defRPr lang="fi-FI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6C2A8"/>
    <a:srgbClr val="BA94DC"/>
    <a:srgbClr val="9B9B9B"/>
    <a:srgbClr val="FCFCFC"/>
    <a:srgbClr val="AD81D5"/>
    <a:srgbClr val="E6E6E6"/>
    <a:srgbClr val="3A75C4"/>
    <a:srgbClr val="00BD9D"/>
    <a:srgbClr val="009E6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Vaalea tyyli 2 - Korostus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Vaalea tyyli 2 - Korostus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Vaalea tyyli 2 - Korostus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Vaalea tyyli 2 - Korostu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Vaalea tyyli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Vaalea tyyli 3 - Korostus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Normaali tyyli 2 - Korost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Normaali tyyli 2 - Korostu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671" autoAdjust="0"/>
  </p:normalViewPr>
  <p:slideViewPr>
    <p:cSldViewPr>
      <p:cViewPr varScale="1">
        <p:scale>
          <a:sx n="92" d="100"/>
          <a:sy n="92" d="100"/>
        </p:scale>
        <p:origin x="772" y="64"/>
      </p:cViewPr>
      <p:guideLst>
        <p:guide orient="horz" pos="125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348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/>
            </a:lvl1pPr>
          </a:lstStyle>
          <a:p>
            <a:pPr>
              <a:defRPr/>
            </a:pPr>
            <a:fld id="{86D4800B-8753-3B4F-97ED-321E73BD7EDB}" type="datetimeFigureOut">
              <a:rPr lang="fi-FI"/>
              <a:pPr>
                <a:defRPr/>
              </a:pPr>
              <a:t>6.10.2026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8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800" smtClean="0"/>
            </a:lvl1pPr>
          </a:lstStyle>
          <a:p>
            <a:pPr>
              <a:defRPr/>
            </a:pPr>
            <a:fld id="{2AEE3D99-5224-E842-A8E5-E1EB0FE63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891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/>
            </a:lvl1pPr>
          </a:lstStyle>
          <a:p>
            <a:pPr>
              <a:defRPr/>
            </a:pPr>
            <a:fld id="{BD7201BD-9C11-AD45-9EF1-CE7B667A450D}" type="datetimeFigureOut">
              <a:rPr lang="fi-FI"/>
              <a:pPr>
                <a:defRPr/>
              </a:pPr>
              <a:t>6.10.2026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8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800" smtClean="0"/>
            </a:lvl1pPr>
          </a:lstStyle>
          <a:p>
            <a:pPr>
              <a:defRPr/>
            </a:pPr>
            <a:fld id="{3405D274-9957-F14C-8EA2-7129B63473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2861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ＭＳ Ｐゴシック" pitchFamily="-7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City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</p:spPr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19" name="Alatunnisteen paikkamerkki 2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20" name="Dian numeron paikkamerkki 3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 descr="A group of people posing for a picture&#10;&#10;Description automatically generated">
            <a:extLst>
              <a:ext uri="{FF2B5EF4-FFF2-40B4-BE49-F238E27FC236}">
                <a16:creationId xmlns:a16="http://schemas.microsoft.com/office/drawing/2014/main" id="{78F29810-48EA-1212-7DFB-9D26A5F0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645" y="188640"/>
            <a:ext cx="11742710" cy="5941506"/>
          </a:xfrm>
          <a:prstGeom prst="rect">
            <a:avLst/>
          </a:prstGeom>
        </p:spPr>
      </p:pic>
      <p:sp>
        <p:nvSpPr>
          <p:cNvPr id="21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31355" y="3573016"/>
            <a:ext cx="11736000" cy="872510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14400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A718B7F-5F85-C28A-C408-6732339FAD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260350"/>
            <a:ext cx="2881312" cy="2376488"/>
          </a:xfrm>
        </p:spPr>
        <p:txBody>
          <a:bodyPr/>
          <a:lstStyle>
            <a:lvl1pPr marL="0" indent="0" algn="ctr">
              <a:spcAft>
                <a:spcPts val="0"/>
              </a:spcAft>
              <a:defRPr sz="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i-FI" dirty="0"/>
              <a:t> </a:t>
            </a:r>
          </a:p>
        </p:txBody>
      </p:sp>
      <p:grpSp>
        <p:nvGrpSpPr>
          <p:cNvPr id="4" name="Ryhmä 3">
            <a:extLst>
              <a:ext uri="{FF2B5EF4-FFF2-40B4-BE49-F238E27FC236}">
                <a16:creationId xmlns:a16="http://schemas.microsoft.com/office/drawing/2014/main" id="{1F4DB45D-291F-AE0F-0E52-9E5ECB4F329E}"/>
              </a:ext>
            </a:extLst>
          </p:cNvPr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C5E464-2B61-CA3A-2E26-A5E8604A4DD8}"/>
                </a:ext>
              </a:extLst>
            </p:cNvPr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BD8BA1-D95E-F112-7435-4891AA53C645}"/>
                </a:ext>
              </a:extLst>
            </p:cNvPr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3F1C90A-3A3C-B9BB-741C-82A0C000FAFC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</p:spTree>
    <p:extLst>
      <p:ext uri="{BB962C8B-B14F-4D97-AF65-F5344CB8AC3E}">
        <p14:creationId xmlns:p14="http://schemas.microsoft.com/office/powerpoint/2010/main" val="443312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Viik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6" name="Picture 5" descr="A person and person standing in a garden&#10;&#10;Description automatically generated">
            <a:extLst>
              <a:ext uri="{FF2B5EF4-FFF2-40B4-BE49-F238E27FC236}">
                <a16:creationId xmlns:a16="http://schemas.microsoft.com/office/drawing/2014/main" id="{C765EE3F-5D64-5397-B54A-6F89F9D38C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194" y="188640"/>
            <a:ext cx="11736000" cy="5938112"/>
          </a:xfrm>
          <a:prstGeom prst="rect">
            <a:avLst/>
          </a:prstGeom>
        </p:spPr>
      </p:pic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294920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Kumpul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</p:spPr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19" name="Alatunnisteen paikkamerkki 2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20" name="Dian numeron paikkamerkki 3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3" name="Picture 2" descr="A group of people standing on a deck&#10;&#10;Description automatically generated">
            <a:extLst>
              <a:ext uri="{FF2B5EF4-FFF2-40B4-BE49-F238E27FC236}">
                <a16:creationId xmlns:a16="http://schemas.microsoft.com/office/drawing/2014/main" id="{38B7624C-6043-308B-D01E-EF7B60C33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355" y="188640"/>
            <a:ext cx="11729290" cy="5934717"/>
          </a:xfrm>
          <a:prstGeom prst="rect">
            <a:avLst/>
          </a:prstGeom>
        </p:spPr>
      </p:pic>
      <p:grpSp>
        <p:nvGrpSpPr>
          <p:cNvPr id="23" name="Ryhmä 11"/>
          <p:cNvGrpSpPr/>
          <p:nvPr userDrawn="1"/>
        </p:nvGrpSpPr>
        <p:grpSpPr bwMode="white">
          <a:xfrm>
            <a:off x="292432" y="2606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24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5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6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1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31355" y="3410949"/>
            <a:ext cx="11736000" cy="872510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14400" y="5152286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46184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Meilah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6" name="Picture 5" descr="A person and person standing in a hallway&#10;&#10;Description automatically generated">
            <a:extLst>
              <a:ext uri="{FF2B5EF4-FFF2-40B4-BE49-F238E27FC236}">
                <a16:creationId xmlns:a16="http://schemas.microsoft.com/office/drawing/2014/main" id="{C166B75B-41FD-8273-9592-407D277F2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000" y="188640"/>
            <a:ext cx="11755842" cy="5948151"/>
          </a:xfrm>
          <a:prstGeom prst="rect">
            <a:avLst/>
          </a:prstGeom>
        </p:spPr>
      </p:pic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58927554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slide Main bui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6000" y="231596"/>
            <a:ext cx="11736000" cy="5933708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774160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slide Viikki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998" y="231696"/>
            <a:ext cx="11736000" cy="5933608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90683539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Tiedekul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000" y="207681"/>
            <a:ext cx="11736000" cy="5944036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310175001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Kump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340" y="207479"/>
            <a:ext cx="11736000" cy="5945097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72139287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Library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999" y="207479"/>
            <a:ext cx="11736058" cy="5944237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127753636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slide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1342" y="207580"/>
            <a:ext cx="11742657" cy="5944137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62571289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10.jpg" descr="10.jpg"/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7999" y="207479"/>
            <a:ext cx="11736000" cy="594423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473789879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5000" y="188640"/>
            <a:ext cx="11739000" cy="5976664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4280857499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9096" y="188640"/>
            <a:ext cx="11711538" cy="5976664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31106890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9096" y="188640"/>
            <a:ext cx="11711538" cy="5976664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514674485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7" hasCustomPrompt="1"/>
          </p:nvPr>
        </p:nvSpPr>
        <p:spPr>
          <a:xfrm>
            <a:off x="226800" y="226800"/>
            <a:ext cx="11736000" cy="59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800000" anchor="t" anchorCtr="1"/>
          <a:lstStyle>
            <a:lvl1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 sz="3200" b="1">
                <a:solidFill>
                  <a:srgbClr val="00B0F0"/>
                </a:solidFill>
              </a:defRPr>
            </a:lvl1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ctrTitle"/>
          </p:nvPr>
        </p:nvSpPr>
        <p:spPr>
          <a:xfrm>
            <a:off x="228000" y="3420000"/>
            <a:ext cx="11736000" cy="972217"/>
          </a:xfrm>
          <a:prstGeom prst="rect">
            <a:avLst/>
          </a:prstGeom>
          <a:noFill/>
        </p:spPr>
        <p:txBody>
          <a:bodyPr tIns="252000" bIns="36000" anchor="t" anchorCtr="0">
            <a:spAutoFit/>
          </a:bodyPr>
          <a:lstStyle>
            <a:lvl1pPr algn="ctr">
              <a:lnSpc>
                <a:spcPct val="82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/>
              <a:t>Muokkaa ots. perustyyl. napsautt.</a:t>
            </a:r>
            <a:endParaRPr lang="fi-FI" noProof="0" dirty="0"/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785DCF2-BC03-4AAE-A835-57E4F208A97E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294632"/>
      </p:ext>
    </p:extLst>
  </p:cSld>
  <p:clrMapOvr>
    <a:masterClrMapping/>
  </p:clrMapOvr>
  <p:transition spd="slow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Kuva 24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" b="3125"/>
          <a:stretch/>
        </p:blipFill>
        <p:spPr bwMode="ltGray">
          <a:xfrm>
            <a:off x="338667" y="254000"/>
            <a:ext cx="11514667" cy="5905500"/>
          </a:xfrm>
          <a:prstGeom prst="rect">
            <a:avLst/>
          </a:prstGeom>
        </p:spPr>
      </p:pic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14400" y="4509120"/>
            <a:ext cx="10363200" cy="13716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  <p:sp>
        <p:nvSpPr>
          <p:cNvPr id="13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914400" y="2996952"/>
            <a:ext cx="10363200" cy="1296144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82000"/>
              </a:lnSpc>
              <a:defRPr sz="4800"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FC139DF-555F-4884-A52D-5104D268AD44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7" name="Ryhmä 11"/>
          <p:cNvGrpSpPr/>
          <p:nvPr userDrawn="1"/>
        </p:nvGrpSpPr>
        <p:grpSpPr bwMode="black">
          <a:xfrm>
            <a:off x="347250" y="260248"/>
            <a:ext cx="2491200" cy="2334818"/>
            <a:chOff x="1311275" y="373063"/>
            <a:chExt cx="6524625" cy="6115050"/>
          </a:xfrm>
          <a:solidFill>
            <a:srgbClr val="000000"/>
          </a:solidFill>
        </p:grpSpPr>
        <p:sp>
          <p:nvSpPr>
            <p:cNvPr id="18" name="Rectangle 5"/>
            <p:cNvSpPr>
              <a:spLocks noChangeArrowheads="1"/>
            </p:cNvSpPr>
            <p:nvPr userDrawn="1"/>
          </p:nvSpPr>
          <p:spPr bwMode="black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9" name="Rectangle 6"/>
            <p:cNvSpPr>
              <a:spLocks noChangeArrowheads="1"/>
            </p:cNvSpPr>
            <p:nvPr userDrawn="1"/>
          </p:nvSpPr>
          <p:spPr bwMode="black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black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</p:spTree>
    <p:extLst>
      <p:ext uri="{BB962C8B-B14F-4D97-AF65-F5344CB8AC3E}">
        <p14:creationId xmlns:p14="http://schemas.microsoft.com/office/powerpoint/2010/main" val="2405069423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1919536" y="716436"/>
            <a:ext cx="9937104" cy="122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 anchorCtr="0"/>
          <a:lstStyle>
            <a:lvl1pPr algn="ctr">
              <a:lnSpc>
                <a:spcPct val="82000"/>
              </a:lnSpc>
              <a:defRPr sz="4000"/>
            </a:lvl1pPr>
          </a:lstStyle>
          <a:p>
            <a:pPr lvl="0"/>
            <a:r>
              <a:rPr lang="fi-FI" dirty="0"/>
              <a:t>CLICK TO ADD TITLE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335360" y="2204865"/>
            <a:ext cx="11521280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92075" indent="0" algn="ctr">
              <a:lnSpc>
                <a:spcPct val="82000"/>
              </a:lnSpc>
              <a:buClr>
                <a:schemeClr val="tx1"/>
              </a:buClr>
              <a:buFont typeface="Arial"/>
              <a:buNone/>
              <a:defRPr>
                <a:latin typeface="+mj-lt"/>
                <a:cs typeface="Gotham narrow bold"/>
              </a:defRPr>
            </a:lvl1pPr>
            <a:lvl2pPr marL="382588" indent="0" algn="ctr">
              <a:lnSpc>
                <a:spcPct val="80000"/>
              </a:lnSpc>
              <a:buFont typeface="Arial"/>
              <a:buNone/>
              <a:defRPr>
                <a:latin typeface="Gotham Narrow Book"/>
                <a:cs typeface="Gotham Narrow Book"/>
              </a:defRPr>
            </a:lvl2pPr>
            <a:lvl3pPr marL="765175" indent="0" algn="ctr">
              <a:lnSpc>
                <a:spcPct val="80000"/>
              </a:lnSpc>
              <a:buNone/>
              <a:defRPr>
                <a:latin typeface="Gotham Narrow Book"/>
                <a:cs typeface="Gotham Narrow Book"/>
              </a:defRPr>
            </a:lvl3pPr>
            <a:lvl4pPr marL="1241425" indent="0" algn="ctr">
              <a:lnSpc>
                <a:spcPct val="80000"/>
              </a:lnSpc>
              <a:buNone/>
              <a:defRPr>
                <a:latin typeface="Gotham Narrow Book"/>
                <a:cs typeface="Gotham Narrow Book"/>
              </a:defRPr>
            </a:lvl4pPr>
            <a:lvl5pPr marL="1717675" indent="0" algn="ctr">
              <a:lnSpc>
                <a:spcPct val="80000"/>
              </a:lnSpc>
              <a:buNone/>
              <a:defRPr>
                <a:latin typeface="Gotham Narrow Book"/>
                <a:cs typeface="Gotham Narrow Book"/>
              </a:defRPr>
            </a:lvl5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7FDA8B-5024-41F9-96BA-DE834CBA048A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4570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772997" y="2204865"/>
            <a:ext cx="11029519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+mn-lt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+mn-lt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+mn-lt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+mn-lt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+mn-lt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E421AAA-9468-410B-AE58-6AF913CDA27D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63552" y="802411"/>
            <a:ext cx="9722048" cy="970405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defRPr/>
            </a:lvl1pPr>
          </a:lstStyle>
          <a:p>
            <a:r>
              <a:rPr lang="fi-FI"/>
              <a:t>Muokkaa ots. perustyyl. napsautt.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444441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s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774000" y="2204865"/>
            <a:ext cx="5280587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+mn-lt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+mn-lt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+mn-lt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+mn-lt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+mn-lt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idx="13" hasCustomPrompt="1"/>
          </p:nvPr>
        </p:nvSpPr>
        <p:spPr bwMode="auto">
          <a:xfrm>
            <a:off x="6480043" y="2204865"/>
            <a:ext cx="5280587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+mn-lt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+mn-lt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+mn-lt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+mn-lt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+mn-lt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F0238F-2308-4A48-B2E1-00FCB2BFEC78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63552" y="802411"/>
            <a:ext cx="9722048" cy="970405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defRPr/>
            </a:lvl1pPr>
          </a:lstStyle>
          <a:p>
            <a:r>
              <a:rPr lang="fi-FI"/>
              <a:t>Muokkaa ots. perustyyl. napsautt.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515353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763572" y="1988840"/>
            <a:ext cx="5913624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>
              <a:lnSpc>
                <a:spcPct val="82000"/>
              </a:lnSpc>
              <a:defRPr sz="3000"/>
            </a:lvl1pPr>
          </a:lstStyle>
          <a:p>
            <a:pPr lvl="0"/>
            <a:r>
              <a:rPr lang="fi-FI" dirty="0"/>
              <a:t>CLICK TO ADD TITLE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763571" y="2996953"/>
            <a:ext cx="5908493" cy="3162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+mn-lt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+mn-lt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+mn-lt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+mn-lt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+mn-lt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6773333" y="254000"/>
            <a:ext cx="5080000" cy="5905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440000" anchor="t" anchorCtr="0"/>
          <a:lstStyle>
            <a:lvl1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 b="1" i="0">
                <a:solidFill>
                  <a:srgbClr val="00B0F0"/>
                </a:solidFill>
                <a:latin typeface="Gotham-Bold"/>
                <a:cs typeface="Gotham-Bold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7968994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763200" y="1988840"/>
            <a:ext cx="5914800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>
              <a:lnSpc>
                <a:spcPct val="82000"/>
              </a:lnSpc>
              <a:defRPr sz="3000"/>
            </a:lvl1pPr>
          </a:lstStyle>
          <a:p>
            <a:pPr lvl="0"/>
            <a:r>
              <a:rPr lang="fi-FI" dirty="0"/>
              <a:t>CLICK TO ADD TITLE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763200" y="2996953"/>
            <a:ext cx="5907600" cy="3169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Gotham Narrow Book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Gotham Narrow Book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Gotham Narrow Book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Gotham Narrow Book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Gotham Narrow Book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6768000" y="254000"/>
            <a:ext cx="5080000" cy="2952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t" anchorCtr="0"/>
          <a:lstStyle>
            <a:lvl1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 b="1" i="0">
                <a:solidFill>
                  <a:srgbClr val="00B0F0"/>
                </a:solidFill>
                <a:latin typeface="+mj-lt"/>
                <a:cs typeface="Gotham-Bold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6768075" y="3212976"/>
            <a:ext cx="5080000" cy="29527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720000" anchor="t" anchorCtr="0"/>
          <a:lstStyle>
            <a:lvl1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 b="1" i="0">
                <a:solidFill>
                  <a:srgbClr val="00B0F0"/>
                </a:solidFill>
                <a:latin typeface="+mj-lt"/>
                <a:cs typeface="Gotham-Bold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5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1232025-848E-4C1B-A0F3-5B2B3D457463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6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7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0302261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19B7758-116C-4140-B6DB-C1147B26C5EC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63552" y="802411"/>
            <a:ext cx="9722048" cy="970405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defRPr/>
            </a:lvl1pPr>
          </a:lstStyle>
          <a:p>
            <a:r>
              <a:rPr lang="fi-FI"/>
              <a:t>Muokkaa ots. perustyyl. napsautt.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41325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  <p:pic>
        <p:nvPicPr>
          <p:cNvPr id="5" name="Kuva 5" descr="Kuva, joka sisältää kohteen teksti, luonto, vesi, pilvi&#10;&#10;Kuvaus luotu automaattisesti">
            <a:extLst>
              <a:ext uri="{FF2B5EF4-FFF2-40B4-BE49-F238E27FC236}">
                <a16:creationId xmlns:a16="http://schemas.microsoft.com/office/drawing/2014/main" id="{A0B828C4-7C94-3E95-BECE-9B7F85A3EB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4000" y="216753"/>
            <a:ext cx="11736000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57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  <p:pic>
        <p:nvPicPr>
          <p:cNvPr id="6" name="Kuva 18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5DD210C1-0D84-67EB-8E6D-E517412F40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" y="234000"/>
            <a:ext cx="11704320" cy="59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Kuva 9"/>
          <p:cNvPicPr>
            <a:picLocks noChangeAspect="1"/>
          </p:cNvPicPr>
          <p:nvPr userDrawn="1"/>
        </p:nvPicPr>
        <p:blipFill rotWithShape="1"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" b="3125"/>
          <a:stretch/>
        </p:blipFill>
        <p:spPr bwMode="hidden">
          <a:xfrm>
            <a:off x="226799" y="215490"/>
            <a:ext cx="11738401" cy="5944010"/>
          </a:xfrm>
          <a:prstGeom prst="rect">
            <a:avLst/>
          </a:prstGeom>
        </p:spPr>
      </p:pic>
      <p:sp>
        <p:nvSpPr>
          <p:cNvPr id="19" name="Title Placeholder 1"/>
          <p:cNvSpPr>
            <a:spLocks noGrp="1"/>
          </p:cNvSpPr>
          <p:nvPr>
            <p:ph type="title"/>
          </p:nvPr>
        </p:nvSpPr>
        <p:spPr bwMode="auto">
          <a:xfrm>
            <a:off x="2063552" y="802411"/>
            <a:ext cx="9722048" cy="970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/>
              <a:t>Muokkaa ots. perustyyl. napsautt.</a:t>
            </a:r>
            <a:endParaRPr lang="en-GB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063552" y="1981200"/>
            <a:ext cx="972204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GB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261600" y="6189117"/>
            <a:ext cx="9144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 b="0" dirty="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DD08BD52-FDAE-42AB-8313-0991B6AE4759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176000" y="6189117"/>
            <a:ext cx="68064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 b="0" dirty="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669315E-5A66-CF44-AE5D-C333B2F730C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4" name="Alatunnisteen paikkamerkki 2"/>
          <p:cNvSpPr>
            <a:spLocks noGrp="1"/>
          </p:cNvSpPr>
          <p:nvPr>
            <p:ph type="ftr" sz="quarter" idx="3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fi-FI" dirty="0"/>
              <a:t>Presentation </a:t>
            </a:r>
            <a:r>
              <a:rPr lang="fi-FI" dirty="0" err="1"/>
              <a:t>Name</a:t>
            </a:r>
            <a:r>
              <a:rPr lang="fi-FI" dirty="0"/>
              <a:t> / </a:t>
            </a:r>
            <a:r>
              <a:rPr lang="fi-FI" dirty="0" err="1"/>
              <a:t>Firstname</a:t>
            </a:r>
            <a:r>
              <a:rPr lang="fi-FI" dirty="0"/>
              <a:t> </a:t>
            </a:r>
            <a:r>
              <a:rPr lang="fi-FI" dirty="0" err="1"/>
              <a:t>Lastname</a:t>
            </a:r>
            <a:endParaRPr lang="fi-FI" dirty="0"/>
          </a:p>
        </p:txBody>
      </p:sp>
      <p:grpSp>
        <p:nvGrpSpPr>
          <p:cNvPr id="25" name="Ryhmä 11"/>
          <p:cNvGrpSpPr/>
          <p:nvPr userDrawn="1"/>
        </p:nvGrpSpPr>
        <p:grpSpPr bwMode="black">
          <a:xfrm>
            <a:off x="334478" y="263539"/>
            <a:ext cx="1397690" cy="1309952"/>
            <a:chOff x="1311275" y="373063"/>
            <a:chExt cx="6524625" cy="6115050"/>
          </a:xfrm>
          <a:solidFill>
            <a:schemeClr val="tx1"/>
          </a:solidFill>
        </p:grpSpPr>
        <p:sp>
          <p:nvSpPr>
            <p:cNvPr id="26" name="Rectangle 5"/>
            <p:cNvSpPr>
              <a:spLocks noChangeArrowheads="1"/>
            </p:cNvSpPr>
            <p:nvPr userDrawn="1"/>
          </p:nvSpPr>
          <p:spPr bwMode="black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7" name="Rectangle 6"/>
            <p:cNvSpPr>
              <a:spLocks noChangeArrowheads="1"/>
            </p:cNvSpPr>
            <p:nvPr userDrawn="1"/>
          </p:nvSpPr>
          <p:spPr bwMode="black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8" name="Freeform 7"/>
            <p:cNvSpPr>
              <a:spLocks noEditPoints="1"/>
            </p:cNvSpPr>
            <p:nvPr userDrawn="1"/>
          </p:nvSpPr>
          <p:spPr bwMode="black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15" y="6237312"/>
            <a:ext cx="2085975" cy="5429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1" r:id="rId2"/>
    <p:sldLayoutId id="2147483709" r:id="rId3"/>
    <p:sldLayoutId id="2147483695" r:id="rId4"/>
    <p:sldLayoutId id="2147483712" r:id="rId5"/>
    <p:sldLayoutId id="2147483696" r:id="rId6"/>
    <p:sldLayoutId id="2147483698" r:id="rId7"/>
    <p:sldLayoutId id="2147483699" r:id="rId8"/>
    <p:sldLayoutId id="2147483700" r:id="rId9"/>
    <p:sldLayoutId id="2147483702" r:id="rId10"/>
    <p:sldLayoutId id="2147483701" r:id="rId11"/>
    <p:sldLayoutId id="2147483703" r:id="rId12"/>
    <p:sldLayoutId id="2147483704" r:id="rId13"/>
    <p:sldLayoutId id="2147483705" r:id="rId14"/>
    <p:sldLayoutId id="2147483684" r:id="rId15"/>
    <p:sldLayoutId id="2147483680" r:id="rId16"/>
    <p:sldLayoutId id="2147483681" r:id="rId17"/>
    <p:sldLayoutId id="2147483667" r:id="rId18"/>
    <p:sldLayoutId id="2147483669" r:id="rId19"/>
    <p:sldLayoutId id="2147483670" r:id="rId20"/>
    <p:sldLayoutId id="2147483678" r:id="rId21"/>
    <p:sldLayoutId id="2147483683" r:id="rId22"/>
    <p:sldLayoutId id="2147483713" r:id="rId23"/>
    <p:sldLayoutId id="2147483714" r:id="rId24"/>
  </p:sldLayoutIdLst>
  <p:hf hdr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 kern="1200" cap="all" baseline="0">
          <a:solidFill>
            <a:schemeClr val="tx1"/>
          </a:solidFill>
          <a:latin typeface="+mj-lt"/>
          <a:ea typeface="+mj-ea"/>
          <a:cs typeface="Gotham Narrow Bold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Gotham Narrow Bold" charset="0"/>
          <a:ea typeface="ＭＳ Ｐゴシック" pitchFamily="-72" charset="-128"/>
          <a:cs typeface="ＭＳ Ｐゴシック" pitchFamily="-72" charset="-128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Gotham Narrow Bold" charset="0"/>
          <a:ea typeface="ＭＳ Ｐゴシック" pitchFamily="-72" charset="-128"/>
          <a:cs typeface="ＭＳ Ｐゴシック" pitchFamily="-72" charset="-128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Gotham Narrow Bold" charset="0"/>
          <a:ea typeface="ＭＳ Ｐゴシック" pitchFamily="-72" charset="-128"/>
          <a:cs typeface="ＭＳ Ｐゴシック" pitchFamily="-72" charset="-128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Gotham Narrow Bold" charset="0"/>
          <a:ea typeface="ＭＳ Ｐゴシック" pitchFamily="-72" charset="-128"/>
          <a:cs typeface="ＭＳ Ｐゴシック" pitchFamily="-7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SzPct val="100000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382588" indent="3175" algn="l" rtl="0" eaLnBrk="1" fontAlgn="base" hangingPunct="1">
        <a:spcBef>
          <a:spcPct val="0"/>
        </a:spcBef>
        <a:spcAft>
          <a:spcPct val="50000"/>
        </a:spcAft>
        <a:buClr>
          <a:schemeClr val="tx1"/>
        </a:buClr>
        <a:buSzPct val="100000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500" indent="-187325" algn="l" rtl="0" eaLnBrk="1" fontAlgn="base" hangingPunct="1">
        <a:spcBef>
          <a:spcPct val="0"/>
        </a:spcBef>
        <a:spcAft>
          <a:spcPct val="50000"/>
        </a:spcAft>
        <a:buFont typeface="Arial" charset="0"/>
        <a:buChar char="‒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187325" algn="l" rtl="0" eaLnBrk="1" fontAlgn="base" hangingPunct="1">
        <a:spcBef>
          <a:spcPct val="0"/>
        </a:spcBef>
        <a:spcAft>
          <a:spcPct val="50000"/>
        </a:spcAft>
        <a:buFont typeface="Arial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905000" indent="-187325" algn="l" rtl="0" eaLnBrk="1" fontAlgn="base" hangingPunct="1">
        <a:spcBef>
          <a:spcPct val="0"/>
        </a:spcBef>
        <a:spcAft>
          <a:spcPct val="50000"/>
        </a:spcAft>
        <a:buFont typeface="Arial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6EDC2816-715E-CCE5-53BA-B2B058845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AF1B000A-656E-105D-71A0-0144A5A4DE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 dirty="0"/>
              <a:t>Presentation </a:t>
            </a:r>
            <a:r>
              <a:rPr lang="fi-FI" dirty="0" err="1"/>
              <a:t>Name</a:t>
            </a:r>
            <a:r>
              <a:rPr lang="fi-FI" dirty="0"/>
              <a:t> / </a:t>
            </a:r>
            <a:r>
              <a:rPr lang="fi-FI" dirty="0" err="1"/>
              <a:t>Firstname</a:t>
            </a:r>
            <a:r>
              <a:rPr lang="fi-FI" dirty="0"/>
              <a:t> </a:t>
            </a:r>
            <a:r>
              <a:rPr lang="fi-FI" dirty="0" err="1"/>
              <a:t>Lastname</a:t>
            </a:r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438E3508-0C26-D549-826A-AFDD2DA0E2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  <p:sp>
        <p:nvSpPr>
          <p:cNvPr id="5" name="Otsikko 4">
            <a:extLst>
              <a:ext uri="{FF2B5EF4-FFF2-40B4-BE49-F238E27FC236}">
                <a16:creationId xmlns:a16="http://schemas.microsoft.com/office/drawing/2014/main" id="{29B638E7-E2A6-A1D1-87F0-B4077FBEF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000" y="3420000"/>
            <a:ext cx="11736000" cy="1466455"/>
          </a:xfrm>
        </p:spPr>
        <p:txBody>
          <a:bodyPr/>
          <a:lstStyle/>
          <a:p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polarization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increased</a:t>
            </a:r>
            <a:r>
              <a:rPr lang="fi-FI" dirty="0"/>
              <a:t>?</a:t>
            </a:r>
          </a:p>
        </p:txBody>
      </p:sp>
      <p:sp>
        <p:nvSpPr>
          <p:cNvPr id="6" name="Alaotsikko 5">
            <a:extLst>
              <a:ext uri="{FF2B5EF4-FFF2-40B4-BE49-F238E27FC236}">
                <a16:creationId xmlns:a16="http://schemas.microsoft.com/office/drawing/2014/main" id="{CFAF823E-4A84-0C54-C7CD-952F7263CA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9781426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69B9-67FA-7234-95F9-FB82B9A4E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8569675-FB9E-B3B3-EB79-08C15CDD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Polarization</a:t>
            </a:r>
            <a:r>
              <a:rPr lang="fi-FI" dirty="0"/>
              <a:t> – </a:t>
            </a:r>
            <a:r>
              <a:rPr lang="fi-FI" dirty="0" err="1"/>
              <a:t>what</a:t>
            </a:r>
            <a:r>
              <a:rPr lang="fi-FI" dirty="0"/>
              <a:t> and </a:t>
            </a:r>
            <a:r>
              <a:rPr lang="fi-FI" dirty="0" err="1"/>
              <a:t>why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DC28FA3-778B-E06C-61FC-5088071CA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/>
              <a:t>It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been</a:t>
            </a:r>
            <a:r>
              <a:rPr lang="fi-FI" dirty="0"/>
              <a:t> </a:t>
            </a:r>
            <a:r>
              <a:rPr lang="fi-FI" dirty="0" err="1"/>
              <a:t>argued</a:t>
            </a:r>
            <a:r>
              <a:rPr lang="fi-FI" dirty="0"/>
              <a:t> </a:t>
            </a:r>
            <a:r>
              <a:rPr lang="fi-FI" dirty="0" err="1"/>
              <a:t>that</a:t>
            </a:r>
            <a:r>
              <a:rPr lang="fi-FI" dirty="0"/>
              <a:t> </a:t>
            </a:r>
            <a:r>
              <a:rPr lang="fi-FI" dirty="0" err="1"/>
              <a:t>polarization</a:t>
            </a:r>
            <a:r>
              <a:rPr lang="fi-FI" dirty="0"/>
              <a:t>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increased</a:t>
            </a:r>
            <a:r>
              <a:rPr lang="fi-FI" dirty="0"/>
              <a:t> </a:t>
            </a:r>
            <a:r>
              <a:rPr lang="fi-FI" dirty="0" err="1"/>
              <a:t>lately</a:t>
            </a:r>
            <a:r>
              <a:rPr lang="fi-FI" dirty="0"/>
              <a:t>.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Understanding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political</a:t>
            </a:r>
            <a:r>
              <a:rPr lang="fi-FI" dirty="0"/>
              <a:t> </a:t>
            </a:r>
            <a:r>
              <a:rPr lang="fi-FI" dirty="0" err="1"/>
              <a:t>climate</a:t>
            </a:r>
            <a:r>
              <a:rPr lang="fi-FI" dirty="0"/>
              <a:t> is </a:t>
            </a:r>
            <a:r>
              <a:rPr lang="fi-FI" dirty="0" err="1"/>
              <a:t>important</a:t>
            </a:r>
            <a:r>
              <a:rPr lang="fi-FI" dirty="0"/>
              <a:t> for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voters</a:t>
            </a:r>
            <a:endParaRPr lang="fi-FI" dirty="0"/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Functionality</a:t>
            </a:r>
            <a:r>
              <a:rPr lang="fi-FI" dirty="0"/>
              <a:t> of </a:t>
            </a:r>
            <a:r>
              <a:rPr lang="fi-FI" dirty="0" err="1"/>
              <a:t>parliamental</a:t>
            </a:r>
            <a:r>
              <a:rPr lang="fi-FI" dirty="0"/>
              <a:t> </a:t>
            </a:r>
            <a:r>
              <a:rPr lang="fi-FI" dirty="0" err="1"/>
              <a:t>decision</a:t>
            </a:r>
            <a:r>
              <a:rPr lang="fi-FI" dirty="0"/>
              <a:t> </a:t>
            </a:r>
            <a:r>
              <a:rPr lang="fi-FI" dirty="0" err="1"/>
              <a:t>making</a:t>
            </a:r>
            <a:r>
              <a:rPr lang="fi-FI" dirty="0"/>
              <a:t> is </a:t>
            </a:r>
            <a:r>
              <a:rPr lang="fi-FI" dirty="0" err="1"/>
              <a:t>also</a:t>
            </a:r>
            <a:r>
              <a:rPr lang="fi-FI" dirty="0"/>
              <a:t> </a:t>
            </a:r>
            <a:r>
              <a:rPr lang="fi-FI" dirty="0" err="1"/>
              <a:t>important</a:t>
            </a:r>
            <a:r>
              <a:rPr lang="fi-FI" dirty="0"/>
              <a:t>.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Therefore</a:t>
            </a:r>
            <a:r>
              <a:rPr lang="fi-FI" dirty="0"/>
              <a:t>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saw</a:t>
            </a:r>
            <a:r>
              <a:rPr lang="fi-FI" dirty="0"/>
              <a:t> it </a:t>
            </a:r>
            <a:r>
              <a:rPr lang="fi-FI" dirty="0" err="1"/>
              <a:t>important</a:t>
            </a:r>
            <a:r>
              <a:rPr lang="fi-FI" dirty="0"/>
              <a:t> to </a:t>
            </a:r>
            <a:r>
              <a:rPr lang="fi-FI" dirty="0" err="1"/>
              <a:t>analyse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actual</a:t>
            </a:r>
            <a:r>
              <a:rPr lang="fi-FI" dirty="0"/>
              <a:t> data, </a:t>
            </a:r>
            <a:r>
              <a:rPr lang="fi-FI" dirty="0" err="1"/>
              <a:t>if</a:t>
            </a:r>
            <a:r>
              <a:rPr lang="fi-FI" dirty="0"/>
              <a:t> </a:t>
            </a:r>
            <a:r>
              <a:rPr lang="fi-FI" dirty="0" err="1"/>
              <a:t>there</a:t>
            </a:r>
            <a:r>
              <a:rPr lang="fi-FI" dirty="0"/>
              <a:t>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been</a:t>
            </a:r>
            <a:r>
              <a:rPr lang="fi-FI" dirty="0"/>
              <a:t> </a:t>
            </a:r>
            <a:r>
              <a:rPr lang="fi-FI" dirty="0" err="1"/>
              <a:t>any</a:t>
            </a:r>
            <a:r>
              <a:rPr lang="fi-FI" dirty="0"/>
              <a:t> </a:t>
            </a:r>
            <a:r>
              <a:rPr lang="fi-FI" dirty="0" err="1"/>
              <a:t>major</a:t>
            </a:r>
            <a:r>
              <a:rPr lang="fi-FI" dirty="0"/>
              <a:t> </a:t>
            </a:r>
            <a:r>
              <a:rPr lang="fi-FI" dirty="0" err="1"/>
              <a:t>shifts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discussions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parliament</a:t>
            </a:r>
            <a:r>
              <a:rPr lang="fi-FI" dirty="0"/>
              <a:t>.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7F24E1A5-878D-3E2E-DA4A-3964F2A8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06/10/2026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CA17528-3493-0C5A-D28B-89F430B8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6505971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DFDE8-848B-69BC-85B1-FAC91FD4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64097EE-7193-519E-CFCE-BB12A2D3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method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CD39AAC-D8C6-83C4-E6EB-F1E4709E5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Our</a:t>
            </a:r>
            <a:r>
              <a:rPr lang="fi-FI" dirty="0"/>
              <a:t> data </a:t>
            </a:r>
            <a:r>
              <a:rPr lang="fi-FI" dirty="0" err="1"/>
              <a:t>consisted</a:t>
            </a:r>
            <a:r>
              <a:rPr lang="fi-FI" dirty="0"/>
              <a:t> of 130,000 </a:t>
            </a:r>
            <a:r>
              <a:rPr lang="fi-FI" dirty="0" err="1"/>
              <a:t>plenary</a:t>
            </a:r>
            <a:r>
              <a:rPr lang="fi-FI" dirty="0"/>
              <a:t> </a:t>
            </a:r>
            <a:r>
              <a:rPr lang="fi-FI" dirty="0" err="1"/>
              <a:t>speeches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2015 to 2026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used</a:t>
            </a:r>
            <a:r>
              <a:rPr lang="fi-FI" dirty="0"/>
              <a:t> AI (Claude) for </a:t>
            </a:r>
            <a:r>
              <a:rPr lang="fi-FI" dirty="0" err="1"/>
              <a:t>analysing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 and to </a:t>
            </a:r>
            <a:r>
              <a:rPr lang="fi-FI" dirty="0" err="1"/>
              <a:t>constract</a:t>
            </a:r>
            <a:r>
              <a:rPr lang="fi-FI" dirty="0"/>
              <a:t> a </a:t>
            </a:r>
            <a:r>
              <a:rPr lang="fi-FI" dirty="0" err="1"/>
              <a:t>model</a:t>
            </a:r>
            <a:r>
              <a:rPr lang="fi-FI" dirty="0"/>
              <a:t> for </a:t>
            </a:r>
            <a:r>
              <a:rPr lang="fi-FI" dirty="0" err="1"/>
              <a:t>guessing</a:t>
            </a:r>
            <a:r>
              <a:rPr lang="fi-FI" dirty="0"/>
              <a:t> a </a:t>
            </a:r>
            <a:r>
              <a:rPr lang="fi-FI" dirty="0" err="1"/>
              <a:t>speaker's</a:t>
            </a:r>
            <a:r>
              <a:rPr lang="fi-FI" dirty="0"/>
              <a:t> party </a:t>
            </a:r>
            <a:r>
              <a:rPr lang="fi-FI" dirty="0" err="1"/>
              <a:t>from</a:t>
            </a:r>
            <a:r>
              <a:rPr lang="fi-FI" dirty="0"/>
              <a:t> a single </a:t>
            </a:r>
            <a:r>
              <a:rPr lang="fi-FI" dirty="0" err="1"/>
              <a:t>speech</a:t>
            </a:r>
            <a:r>
              <a:rPr lang="fi-FI" dirty="0"/>
              <a:t>, </a:t>
            </a:r>
            <a:r>
              <a:rPr lang="fi-FI" dirty="0" err="1"/>
              <a:t>using</a:t>
            </a:r>
            <a:r>
              <a:rPr lang="fi-FI" dirty="0"/>
              <a:t> </a:t>
            </a:r>
            <a:r>
              <a:rPr lang="fi-FI" dirty="0" err="1"/>
              <a:t>only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words</a:t>
            </a:r>
            <a:r>
              <a:rPr lang="fi-FI" dirty="0"/>
              <a:t>. 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Logic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model</a:t>
            </a:r>
            <a:r>
              <a:rPr lang="fi-FI" dirty="0"/>
              <a:t>: If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guess</a:t>
            </a:r>
            <a:r>
              <a:rPr lang="fi-FI" dirty="0"/>
              <a:t> </a:t>
            </a:r>
            <a:r>
              <a:rPr lang="fi-FI" dirty="0" err="1"/>
              <a:t>gets</a:t>
            </a:r>
            <a:r>
              <a:rPr lang="fi-FI" dirty="0"/>
              <a:t> </a:t>
            </a:r>
            <a:r>
              <a:rPr lang="fi-FI" dirty="0" err="1"/>
              <a:t>easier</a:t>
            </a:r>
            <a:r>
              <a:rPr lang="fi-FI" dirty="0"/>
              <a:t> </a:t>
            </a:r>
            <a:r>
              <a:rPr lang="fi-FI" dirty="0" err="1"/>
              <a:t>over</a:t>
            </a:r>
            <a:r>
              <a:rPr lang="fi-FI" dirty="0"/>
              <a:t> </a:t>
            </a:r>
            <a:r>
              <a:rPr lang="fi-FI" dirty="0" err="1"/>
              <a:t>time</a:t>
            </a:r>
            <a:r>
              <a:rPr lang="fi-FI" dirty="0"/>
              <a:t>,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parties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speaking</a:t>
            </a:r>
            <a:r>
              <a:rPr lang="fi-FI" dirty="0"/>
              <a:t> </a:t>
            </a:r>
            <a:r>
              <a:rPr lang="fi-FI" dirty="0" err="1"/>
              <a:t>more</a:t>
            </a:r>
            <a:r>
              <a:rPr lang="fi-FI" dirty="0"/>
              <a:t> </a:t>
            </a:r>
            <a:r>
              <a:rPr lang="fi-FI" dirty="0" err="1"/>
              <a:t>differently</a:t>
            </a:r>
            <a:r>
              <a:rPr lang="fi-FI" dirty="0"/>
              <a:t>.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call</a:t>
            </a:r>
            <a:r>
              <a:rPr lang="fi-FI" dirty="0"/>
              <a:t> </a:t>
            </a:r>
            <a:r>
              <a:rPr lang="fi-FI" dirty="0" err="1"/>
              <a:t>this</a:t>
            </a:r>
            <a:r>
              <a:rPr lang="fi-FI" dirty="0"/>
              <a:t> "</a:t>
            </a:r>
            <a:r>
              <a:rPr lang="fi-FI" dirty="0" err="1"/>
              <a:t>separability</a:t>
            </a:r>
            <a:r>
              <a:rPr lang="fi-FI" dirty="0"/>
              <a:t>", on a </a:t>
            </a:r>
            <a:r>
              <a:rPr lang="fi-FI" dirty="0" err="1"/>
              <a:t>scale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0, </a:t>
            </a:r>
            <a:r>
              <a:rPr lang="fi-FI" dirty="0" err="1"/>
              <a:t>where</a:t>
            </a:r>
            <a:r>
              <a:rPr lang="fi-FI" dirty="0"/>
              <a:t> </a:t>
            </a:r>
            <a:r>
              <a:rPr lang="fi-FI" dirty="0" err="1"/>
              <a:t>parties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indistinguishable</a:t>
            </a:r>
            <a:r>
              <a:rPr lang="fi-FI" dirty="0"/>
              <a:t>, to 1, </a:t>
            </a:r>
            <a:r>
              <a:rPr lang="fi-FI" dirty="0" err="1"/>
              <a:t>where</a:t>
            </a:r>
            <a:r>
              <a:rPr lang="fi-FI" dirty="0"/>
              <a:t> </a:t>
            </a:r>
            <a:r>
              <a:rPr lang="fi-FI" dirty="0" err="1"/>
              <a:t>they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always</a:t>
            </a:r>
            <a:r>
              <a:rPr lang="fi-FI" dirty="0"/>
              <a:t> </a:t>
            </a:r>
            <a:r>
              <a:rPr lang="fi-FI" dirty="0" err="1"/>
              <a:t>distinguishable</a:t>
            </a:r>
            <a:r>
              <a:rPr lang="fi-FI" dirty="0"/>
              <a:t>. 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621C0563-9C57-60EC-7E91-B9CA40C0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07/10/2026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03ECF9A5-5906-F04C-626E-70332820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085730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A39E5-4B84-754B-647C-85161791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1893644-574F-0423-2D11-AE55441C2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/>
              <a:t>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right</a:t>
            </a:r>
            <a:r>
              <a:rPr lang="fi-FI" dirty="0"/>
              <a:t> </a:t>
            </a:r>
            <a:r>
              <a:rPr lang="fi-FI" dirty="0" err="1"/>
              <a:t>hand</a:t>
            </a:r>
            <a:r>
              <a:rPr lang="fi-FI" dirty="0"/>
              <a:t> side </a:t>
            </a:r>
            <a:r>
              <a:rPr lang="fi-FI" dirty="0" err="1"/>
              <a:t>we</a:t>
            </a:r>
            <a:r>
              <a:rPr lang="fi-FI" dirty="0"/>
              <a:t> </a:t>
            </a:r>
            <a:r>
              <a:rPr lang="fi-FI" dirty="0" err="1"/>
              <a:t>have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parties</a:t>
            </a:r>
            <a:r>
              <a:rPr lang="fi-FI" dirty="0"/>
              <a:t> </a:t>
            </a:r>
            <a:r>
              <a:rPr lang="fi-FI" dirty="0" err="1"/>
              <a:t>mapped</a:t>
            </a:r>
            <a:r>
              <a:rPr lang="fi-FI" dirty="0"/>
              <a:t> </a:t>
            </a:r>
            <a:r>
              <a:rPr lang="fi-FI" dirty="0" err="1"/>
              <a:t>based</a:t>
            </a:r>
            <a:r>
              <a:rPr lang="fi-FI" dirty="0"/>
              <a:t> on </a:t>
            </a:r>
            <a:r>
              <a:rPr lang="fi-FI" dirty="0" err="1"/>
              <a:t>their</a:t>
            </a:r>
            <a:r>
              <a:rPr lang="fi-FI" dirty="0"/>
              <a:t> </a:t>
            </a:r>
            <a:r>
              <a:rPr lang="fi-FI" dirty="0" err="1"/>
              <a:t>distance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other</a:t>
            </a:r>
            <a:r>
              <a:rPr lang="fi-FI" dirty="0"/>
              <a:t>.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/>
              <a:t>If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parties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close</a:t>
            </a:r>
            <a:r>
              <a:rPr lang="fi-FI" dirty="0"/>
              <a:t> to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other</a:t>
            </a:r>
            <a:r>
              <a:rPr lang="fi-FI" dirty="0"/>
              <a:t>,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model</a:t>
            </a:r>
            <a:r>
              <a:rPr lang="fi-FI" dirty="0"/>
              <a:t> </a:t>
            </a:r>
            <a:r>
              <a:rPr lang="fi-FI" dirty="0" err="1"/>
              <a:t>had</a:t>
            </a:r>
            <a:r>
              <a:rPr lang="fi-FI" dirty="0"/>
              <a:t> </a:t>
            </a:r>
            <a:r>
              <a:rPr lang="fi-FI" dirty="0" err="1"/>
              <a:t>difficulties</a:t>
            </a:r>
            <a:r>
              <a:rPr lang="fi-FI" dirty="0"/>
              <a:t> to </a:t>
            </a:r>
            <a:r>
              <a:rPr lang="fi-FI" dirty="0" err="1"/>
              <a:t>separate</a:t>
            </a:r>
            <a:r>
              <a:rPr lang="fi-FI" dirty="0"/>
              <a:t> </a:t>
            </a:r>
            <a:r>
              <a:rPr lang="fi-FI" dirty="0" err="1"/>
              <a:t>them</a:t>
            </a:r>
            <a:r>
              <a:rPr lang="fi-FI" dirty="0"/>
              <a:t>. If </a:t>
            </a:r>
            <a:r>
              <a:rPr lang="fi-FI" dirty="0" err="1"/>
              <a:t>they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far</a:t>
            </a:r>
            <a:r>
              <a:rPr lang="fi-FI" dirty="0"/>
              <a:t> </a:t>
            </a:r>
            <a:r>
              <a:rPr lang="fi-FI" dirty="0" err="1"/>
              <a:t>apart</a:t>
            </a:r>
            <a:r>
              <a:rPr lang="fi-FI" dirty="0"/>
              <a:t> </a:t>
            </a:r>
            <a:r>
              <a:rPr lang="fi-FI" dirty="0" err="1"/>
              <a:t>they</a:t>
            </a:r>
            <a:r>
              <a:rPr lang="fi-FI" dirty="0"/>
              <a:t> </a:t>
            </a:r>
            <a:r>
              <a:rPr lang="fi-FI" dirty="0" err="1"/>
              <a:t>were</a:t>
            </a:r>
            <a:r>
              <a:rPr lang="fi-FI" dirty="0"/>
              <a:t> </a:t>
            </a:r>
            <a:r>
              <a:rPr lang="fi-FI" dirty="0" err="1"/>
              <a:t>easy</a:t>
            </a:r>
            <a:r>
              <a:rPr lang="fi-FI" dirty="0"/>
              <a:t> to </a:t>
            </a:r>
            <a:r>
              <a:rPr lang="fi-FI" dirty="0" err="1"/>
              <a:t>separet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other</a:t>
            </a:r>
            <a:r>
              <a:rPr lang="fi-FI" dirty="0"/>
              <a:t>.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The</a:t>
            </a:r>
            <a:r>
              <a:rPr lang="fi-FI" dirty="0"/>
              <a:t> National </a:t>
            </a:r>
            <a:r>
              <a:rPr lang="fi-FI" dirty="0" err="1"/>
              <a:t>Coalition</a:t>
            </a:r>
            <a:r>
              <a:rPr lang="fi-FI" dirty="0"/>
              <a:t>,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Finns</a:t>
            </a:r>
            <a:r>
              <a:rPr lang="fi-FI" dirty="0"/>
              <a:t> Party and </a:t>
            </a:r>
            <a:r>
              <a:rPr lang="fi-FI" dirty="0" err="1"/>
              <a:t>the</a:t>
            </a:r>
            <a:r>
              <a:rPr lang="fi-FI" dirty="0"/>
              <a:t> Christian </a:t>
            </a:r>
            <a:r>
              <a:rPr lang="fi-FI" dirty="0" err="1"/>
              <a:t>Democrats</a:t>
            </a:r>
            <a:r>
              <a:rPr lang="fi-FI" dirty="0"/>
              <a:t> </a:t>
            </a:r>
            <a:r>
              <a:rPr lang="fi-FI" dirty="0" err="1"/>
              <a:t>speak</a:t>
            </a:r>
            <a:r>
              <a:rPr lang="fi-FI" dirty="0"/>
              <a:t> </a:t>
            </a:r>
            <a:r>
              <a:rPr lang="fi-FI" dirty="0" err="1"/>
              <a:t>alike</a:t>
            </a:r>
            <a:r>
              <a:rPr lang="fi-FI" dirty="0"/>
              <a:t>. 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35EE172F-E441-BC53-177C-A5F4D0B4B91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07/10/2026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D661E7AB-25BE-2582-6B59-D50F135F94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09EC75F-4AE6-E593-71BF-B8167BB3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Preliminary </a:t>
            </a:r>
            <a:r>
              <a:rPr lang="fi-FI" dirty="0" err="1"/>
              <a:t>results</a:t>
            </a:r>
            <a:r>
              <a:rPr lang="fi-FI"/>
              <a:t> (1/2)</a:t>
            </a:r>
            <a:endParaRPr lang="fi-FI" dirty="0"/>
          </a:p>
        </p:txBody>
      </p:sp>
      <p:pic>
        <p:nvPicPr>
          <p:cNvPr id="10" name="Sisällön paikkamerkki 9">
            <a:extLst>
              <a:ext uri="{FF2B5EF4-FFF2-40B4-BE49-F238E27FC236}">
                <a16:creationId xmlns:a16="http://schemas.microsoft.com/office/drawing/2014/main" id="{6FB7E0C2-8E25-E9B1-D2FE-EFF3A2B396C2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 bwMode="auto">
          <a:xfrm>
            <a:off x="7059506" y="2240658"/>
            <a:ext cx="4121362" cy="3816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307739384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51EC-E027-E81D-24A0-89456F95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A12D1D6-2262-7E27-80AC-6BAD1EC40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Left</a:t>
            </a:r>
            <a:r>
              <a:rPr lang="fi-FI" dirty="0"/>
              <a:t> Alliance,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Social</a:t>
            </a:r>
            <a:r>
              <a:rPr lang="fi-FI" dirty="0"/>
              <a:t> </a:t>
            </a:r>
            <a:r>
              <a:rPr lang="fi-FI" dirty="0" err="1"/>
              <a:t>Democrats</a:t>
            </a:r>
            <a:r>
              <a:rPr lang="fi-FI" dirty="0"/>
              <a:t> and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Greens</a:t>
            </a:r>
            <a:r>
              <a:rPr lang="fi-FI" dirty="0"/>
              <a:t> </a:t>
            </a:r>
            <a:r>
              <a:rPr lang="fi-FI" dirty="0" err="1"/>
              <a:t>are</a:t>
            </a:r>
            <a:r>
              <a:rPr lang="fi-FI" dirty="0"/>
              <a:t> </a:t>
            </a:r>
            <a:r>
              <a:rPr lang="fi-FI" dirty="0" err="1"/>
              <a:t>close</a:t>
            </a:r>
            <a:r>
              <a:rPr lang="fi-FI" dirty="0"/>
              <a:t> in </a:t>
            </a:r>
            <a:r>
              <a:rPr lang="fi-FI" dirty="0" err="1"/>
              <a:t>views</a:t>
            </a:r>
            <a:r>
              <a:rPr lang="fi-FI" dirty="0"/>
              <a:t>, </a:t>
            </a:r>
            <a:r>
              <a:rPr lang="fi-FI" dirty="0" err="1"/>
              <a:t>but</a:t>
            </a:r>
            <a:r>
              <a:rPr lang="fi-FI" dirty="0"/>
              <a:t> </a:t>
            </a:r>
            <a:r>
              <a:rPr lang="fi-FI" dirty="0" err="1"/>
              <a:t>each</a:t>
            </a:r>
            <a:r>
              <a:rPr lang="fi-FI" dirty="0"/>
              <a:t> </a:t>
            </a:r>
            <a:r>
              <a:rPr lang="fi-FI" dirty="0" err="1"/>
              <a:t>has</a:t>
            </a:r>
            <a:r>
              <a:rPr lang="fi-FI" dirty="0"/>
              <a:t> </a:t>
            </a:r>
            <a:r>
              <a:rPr lang="fi-FI" dirty="0" err="1"/>
              <a:t>its</a:t>
            </a:r>
            <a:r>
              <a:rPr lang="fi-FI" dirty="0"/>
              <a:t> </a:t>
            </a:r>
            <a:r>
              <a:rPr lang="fi-FI" dirty="0" err="1"/>
              <a:t>own</a:t>
            </a:r>
            <a:r>
              <a:rPr lang="fi-FI" dirty="0"/>
              <a:t> </a:t>
            </a:r>
            <a:r>
              <a:rPr lang="fi-FI" dirty="0" err="1"/>
              <a:t>voice</a:t>
            </a:r>
            <a:r>
              <a:rPr lang="fi-FI" dirty="0"/>
              <a:t>. 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Swedish</a:t>
            </a:r>
            <a:r>
              <a:rPr lang="fi-FI" dirty="0"/>
              <a:t> </a:t>
            </a:r>
            <a:r>
              <a:rPr lang="fi-FI" dirty="0" err="1"/>
              <a:t>national</a:t>
            </a:r>
            <a:r>
              <a:rPr lang="fi-FI" dirty="0"/>
              <a:t> party </a:t>
            </a:r>
            <a:r>
              <a:rPr lang="fi-FI" dirty="0" err="1"/>
              <a:t>differs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all</a:t>
            </a:r>
            <a:r>
              <a:rPr lang="fi-FI" dirty="0"/>
              <a:t> </a:t>
            </a:r>
            <a:r>
              <a:rPr lang="fi-FI" dirty="0" err="1"/>
              <a:t>other</a:t>
            </a:r>
            <a:r>
              <a:rPr lang="fi-FI" dirty="0"/>
              <a:t> </a:t>
            </a:r>
            <a:r>
              <a:rPr lang="fi-FI" dirty="0" err="1"/>
              <a:t>parties</a:t>
            </a:r>
            <a:r>
              <a:rPr lang="fi-FI" dirty="0"/>
              <a:t>.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5DE85BDB-3BEE-2E27-8827-7DE721282D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07/10/2026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5AC66208-BC6E-31BD-63B6-DCC47E4130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A26DC647-EBBD-97E2-E0FE-2E7A110E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Preliminary </a:t>
            </a:r>
            <a:r>
              <a:rPr lang="fi-FI" dirty="0" err="1"/>
              <a:t>results</a:t>
            </a:r>
            <a:r>
              <a:rPr lang="fi-FI" dirty="0"/>
              <a:t> (2/2)</a:t>
            </a:r>
          </a:p>
        </p:txBody>
      </p:sp>
      <p:pic>
        <p:nvPicPr>
          <p:cNvPr id="14" name="Sisällön paikkamerkki 13">
            <a:extLst>
              <a:ext uri="{FF2B5EF4-FFF2-40B4-BE49-F238E27FC236}">
                <a16:creationId xmlns:a16="http://schemas.microsoft.com/office/drawing/2014/main" id="{00656133-2AA3-BD79-6475-7C4D25B8008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7059506" y="2240658"/>
            <a:ext cx="4121362" cy="381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1682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AADF-3C77-7B28-B6C8-BC4D5FDDD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8D6F2ED-6B89-4CB4-BA75-3224D2AB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Worth of </a:t>
            </a:r>
            <a:r>
              <a:rPr lang="fi-FI" dirty="0" err="1"/>
              <a:t>noting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3A8C2A1-3EB3-9490-58D6-64DE1C4B4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parties</a:t>
            </a:r>
            <a:r>
              <a:rPr lang="fi-FI" dirty="0"/>
              <a:t> </a:t>
            </a:r>
            <a:r>
              <a:rPr lang="fi-FI" dirty="0" err="1"/>
              <a:t>may</a:t>
            </a:r>
            <a:r>
              <a:rPr lang="fi-FI" dirty="0"/>
              <a:t> </a:t>
            </a:r>
            <a:r>
              <a:rPr lang="fi-FI" dirty="0" err="1"/>
              <a:t>simply</a:t>
            </a:r>
            <a:r>
              <a:rPr lang="fi-FI" dirty="0"/>
              <a:t> </a:t>
            </a:r>
            <a:r>
              <a:rPr lang="fi-FI" dirty="0" err="1"/>
              <a:t>talk</a:t>
            </a:r>
            <a:r>
              <a:rPr lang="fi-FI" dirty="0"/>
              <a:t> </a:t>
            </a:r>
            <a:r>
              <a:rPr lang="fi-FI" dirty="0" err="1"/>
              <a:t>about</a:t>
            </a:r>
            <a:r>
              <a:rPr lang="fi-FI" dirty="0"/>
              <a:t> 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things</a:t>
            </a:r>
            <a:r>
              <a:rPr lang="fi-FI" dirty="0"/>
              <a:t>.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Finns</a:t>
            </a:r>
            <a:r>
              <a:rPr lang="fi-FI" dirty="0"/>
              <a:t> Party </a:t>
            </a:r>
            <a:r>
              <a:rPr lang="fi-FI" dirty="0" err="1"/>
              <a:t>talks</a:t>
            </a:r>
            <a:r>
              <a:rPr lang="fi-FI" dirty="0"/>
              <a:t> </a:t>
            </a:r>
            <a:r>
              <a:rPr lang="fi-FI" dirty="0" err="1"/>
              <a:t>about</a:t>
            </a:r>
            <a:r>
              <a:rPr lang="fi-FI" dirty="0"/>
              <a:t> </a:t>
            </a:r>
            <a:r>
              <a:rPr lang="fi-FI" dirty="0" err="1"/>
              <a:t>immigration</a:t>
            </a:r>
            <a:r>
              <a:rPr lang="fi-FI" dirty="0"/>
              <a:t>,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Greens</a:t>
            </a:r>
            <a:r>
              <a:rPr lang="fi-FI" dirty="0"/>
              <a:t> </a:t>
            </a:r>
            <a:r>
              <a:rPr lang="fi-FI" dirty="0" err="1"/>
              <a:t>about</a:t>
            </a:r>
            <a:r>
              <a:rPr lang="fi-FI" dirty="0"/>
              <a:t> </a:t>
            </a:r>
            <a:r>
              <a:rPr lang="fi-FI" dirty="0" err="1"/>
              <a:t>climate</a:t>
            </a:r>
            <a:r>
              <a:rPr lang="fi-FI" dirty="0"/>
              <a:t>. 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/>
              <a:t>Three </a:t>
            </a:r>
            <a:r>
              <a:rPr lang="fi-FI" dirty="0" err="1"/>
              <a:t>terms</a:t>
            </a:r>
            <a:r>
              <a:rPr lang="fi-FI" dirty="0"/>
              <a:t> </a:t>
            </a:r>
            <a:r>
              <a:rPr lang="fi-FI" dirty="0" err="1"/>
              <a:t>means</a:t>
            </a:r>
            <a:r>
              <a:rPr lang="fi-FI" dirty="0"/>
              <a:t> </a:t>
            </a:r>
            <a:r>
              <a:rPr lang="fi-FI" dirty="0" err="1"/>
              <a:t>three</a:t>
            </a:r>
            <a:r>
              <a:rPr lang="fi-FI" dirty="0"/>
              <a:t> </a:t>
            </a:r>
            <a:r>
              <a:rPr lang="fi-FI" dirty="0" err="1"/>
              <a:t>governments</a:t>
            </a:r>
            <a:r>
              <a:rPr lang="fi-FI" dirty="0"/>
              <a:t>, </a:t>
            </a:r>
            <a:r>
              <a:rPr lang="fi-FI" dirty="0" err="1"/>
              <a:t>so</a:t>
            </a:r>
            <a:r>
              <a:rPr lang="fi-FI" dirty="0"/>
              <a:t> a </a:t>
            </a:r>
            <a:r>
              <a:rPr lang="fi-FI" dirty="0" err="1"/>
              <a:t>trend</a:t>
            </a:r>
            <a:r>
              <a:rPr lang="fi-FI" dirty="0"/>
              <a:t> </a:t>
            </a:r>
            <a:r>
              <a:rPr lang="fi-FI" dirty="0" err="1"/>
              <a:t>can't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fully</a:t>
            </a:r>
            <a:r>
              <a:rPr lang="fi-FI" dirty="0"/>
              <a:t> </a:t>
            </a:r>
            <a:r>
              <a:rPr lang="fi-FI" dirty="0" err="1"/>
              <a:t>separated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who</a:t>
            </a:r>
            <a:r>
              <a:rPr lang="fi-FI" dirty="0"/>
              <a:t> </a:t>
            </a:r>
            <a:r>
              <a:rPr lang="fi-FI" dirty="0" err="1"/>
              <a:t>governs</a:t>
            </a:r>
            <a:r>
              <a:rPr lang="fi-FI" dirty="0"/>
              <a:t>. 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study</a:t>
            </a:r>
            <a:r>
              <a:rPr lang="fi-FI" dirty="0"/>
              <a:t> </a:t>
            </a:r>
            <a:r>
              <a:rPr lang="fi-FI" dirty="0" err="1"/>
              <a:t>measures</a:t>
            </a:r>
            <a:r>
              <a:rPr lang="fi-FI" dirty="0"/>
              <a:t> </a:t>
            </a:r>
            <a:r>
              <a:rPr lang="fi-FI" dirty="0" err="1"/>
              <a:t>language</a:t>
            </a:r>
            <a:r>
              <a:rPr lang="fi-FI" dirty="0"/>
              <a:t>,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opinions</a:t>
            </a:r>
            <a:r>
              <a:rPr lang="fi-FI" dirty="0"/>
              <a:t>. </a:t>
            </a:r>
          </a:p>
          <a:p>
            <a:pPr marL="434975" indent="-342900" algn="l">
              <a:buFont typeface="Arial" panose="020B0604020202020204" pitchFamily="34" charset="0"/>
              <a:buChar char="•"/>
            </a:pPr>
            <a:r>
              <a:rPr lang="fi-FI" dirty="0"/>
              <a:t>And </a:t>
            </a:r>
            <a:r>
              <a:rPr lang="fi-FI" dirty="0" err="1"/>
              <a:t>today's</a:t>
            </a:r>
            <a:r>
              <a:rPr lang="fi-FI" dirty="0"/>
              <a:t> </a:t>
            </a:r>
            <a:r>
              <a:rPr lang="fi-FI" dirty="0" err="1"/>
              <a:t>parliament</a:t>
            </a:r>
            <a:r>
              <a:rPr lang="fi-FI" dirty="0"/>
              <a:t> is </a:t>
            </a:r>
            <a:r>
              <a:rPr lang="fi-FI" dirty="0" err="1"/>
              <a:t>far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most</a:t>
            </a:r>
            <a:r>
              <a:rPr lang="fi-FI" dirty="0"/>
              <a:t> </a:t>
            </a:r>
            <a:r>
              <a:rPr lang="fi-FI" dirty="0" err="1"/>
              <a:t>divided</a:t>
            </a:r>
            <a:r>
              <a:rPr lang="fi-FI" dirty="0"/>
              <a:t> in </a:t>
            </a:r>
            <a:r>
              <a:rPr lang="fi-FI" dirty="0" err="1"/>
              <a:t>history</a:t>
            </a:r>
            <a:r>
              <a:rPr lang="fi-FI" dirty="0"/>
              <a:t>, </a:t>
            </a:r>
            <a:r>
              <a:rPr lang="fi-FI" dirty="0" err="1"/>
              <a:t>since</a:t>
            </a:r>
            <a:r>
              <a:rPr lang="fi-FI" dirty="0"/>
              <a:t> a </a:t>
            </a:r>
            <a:r>
              <a:rPr lang="fi-FI" dirty="0" err="1"/>
              <a:t>century</a:t>
            </a:r>
            <a:r>
              <a:rPr lang="fi-FI" dirty="0"/>
              <a:t>-long </a:t>
            </a:r>
            <a:r>
              <a:rPr lang="fi-FI" dirty="0" err="1"/>
              <a:t>study</a:t>
            </a:r>
            <a:r>
              <a:rPr lang="fi-FI" dirty="0"/>
              <a:t> </a:t>
            </a:r>
            <a:r>
              <a:rPr lang="fi-FI" dirty="0" err="1"/>
              <a:t>puts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peak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1970s. </a:t>
            </a:r>
            <a:r>
              <a:rPr lang="fi-FI" dirty="0" err="1"/>
              <a:t>What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 show is a </a:t>
            </a:r>
            <a:r>
              <a:rPr lang="fi-FI" dirty="0" err="1"/>
              <a:t>measurable</a:t>
            </a:r>
            <a:r>
              <a:rPr lang="fi-FI" dirty="0"/>
              <a:t>, </a:t>
            </a:r>
            <a:r>
              <a:rPr lang="fi-FI" dirty="0" err="1"/>
              <a:t>recent</a:t>
            </a:r>
            <a:r>
              <a:rPr lang="fi-FI" dirty="0"/>
              <a:t> </a:t>
            </a:r>
            <a:r>
              <a:rPr lang="fi-FI" dirty="0" err="1"/>
              <a:t>widening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distance</a:t>
            </a:r>
            <a:r>
              <a:rPr lang="fi-FI" dirty="0"/>
              <a:t> </a:t>
            </a:r>
            <a:r>
              <a:rPr lang="fi-FI" dirty="0" err="1"/>
              <a:t>between</a:t>
            </a:r>
            <a:r>
              <a:rPr lang="fi-FI" dirty="0"/>
              <a:t> </a:t>
            </a:r>
            <a:r>
              <a:rPr lang="fi-FI" dirty="0" err="1"/>
              <a:t>Finnish</a:t>
            </a:r>
            <a:r>
              <a:rPr lang="fi-FI" dirty="0"/>
              <a:t> </a:t>
            </a:r>
            <a:r>
              <a:rPr lang="fi-FI" dirty="0" err="1"/>
              <a:t>parties</a:t>
            </a:r>
            <a:r>
              <a:rPr lang="fi-FI" dirty="0"/>
              <a:t>, </a:t>
            </a:r>
            <a:r>
              <a:rPr lang="fi-FI" dirty="0" err="1"/>
              <a:t>organised</a:t>
            </a:r>
            <a:r>
              <a:rPr lang="fi-FI" dirty="0"/>
              <a:t> </a:t>
            </a:r>
            <a:r>
              <a:rPr lang="fi-FI" dirty="0" err="1"/>
              <a:t>around</a:t>
            </a:r>
            <a:r>
              <a:rPr lang="fi-FI" dirty="0"/>
              <a:t> </a:t>
            </a:r>
            <a:r>
              <a:rPr lang="fi-FI" dirty="0" err="1"/>
              <a:t>two</a:t>
            </a:r>
            <a:r>
              <a:rPr lang="fi-FI" dirty="0"/>
              <a:t> </a:t>
            </a:r>
            <a:r>
              <a:rPr lang="fi-FI" dirty="0" err="1"/>
              <a:t>blocs</a:t>
            </a:r>
            <a:r>
              <a:rPr lang="fi-FI" dirty="0"/>
              <a:t>.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EF129A2D-99D2-028D-111F-F1E4673D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07/10/2026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D4EFDA6-4DDF-D5AA-DAD6-1971A5B7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90444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HY_2016">
  <a:themeElements>
    <a:clrScheme name="HY2016">
      <a:dk1>
        <a:sysClr val="windowText" lastClr="000000"/>
      </a:dk1>
      <a:lt1>
        <a:srgbClr val="FFFFFF"/>
      </a:lt1>
      <a:dk2>
        <a:srgbClr val="8C8A87"/>
      </a:dk2>
      <a:lt2>
        <a:srgbClr val="FFFFFF"/>
      </a:lt2>
      <a:accent1>
        <a:srgbClr val="0E4073"/>
      </a:accent1>
      <a:accent2>
        <a:srgbClr val="7B3CB4"/>
      </a:accent2>
      <a:accent3>
        <a:srgbClr val="45BC9F"/>
      </a:accent3>
      <a:accent4>
        <a:srgbClr val="A5E363"/>
      </a:accent4>
      <a:accent5>
        <a:srgbClr val="7ECEF1"/>
      </a:accent5>
      <a:accent6>
        <a:srgbClr val="FFE263"/>
      </a:accent6>
      <a:hlink>
        <a:srgbClr val="0091D0"/>
      </a:hlink>
      <a:folHlink>
        <a:srgbClr val="8C8A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="" xmlns:ma14="http://schemas.microsoft.com/office/mac/drawingml/2011/main" val="1"/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H PowerPoint template.potx" id="{35C01FC7-82E0-44FA-86F9-FAEB67B82913}" vid="{25A96B2A-1781-41C4-8E05-45413AECF410}"/>
    </a:ext>
  </a:extLst>
</a:theme>
</file>

<file path=ppt/theme/theme2.xml><?xml version="1.0" encoding="utf-8"?>
<a:theme xmlns:a="http://schemas.openxmlformats.org/drawingml/2006/main" name="Office Theme">
  <a:themeElements>
    <a:clrScheme name="HY (konserni)">
      <a:dk1>
        <a:sysClr val="windowText" lastClr="000000"/>
      </a:dk1>
      <a:lt1>
        <a:srgbClr val="FFFFFF"/>
      </a:lt1>
      <a:dk2>
        <a:srgbClr val="8C8A87"/>
      </a:dk2>
      <a:lt2>
        <a:srgbClr val="FFFFFF"/>
      </a:lt2>
      <a:accent1>
        <a:srgbClr val="8C8A87"/>
      </a:accent1>
      <a:accent2>
        <a:srgbClr val="1E1C77"/>
      </a:accent2>
      <a:accent3>
        <a:srgbClr val="FCA311"/>
      </a:accent3>
      <a:accent4>
        <a:srgbClr val="256EC7"/>
      </a:accent4>
      <a:accent5>
        <a:srgbClr val="8EAC7D"/>
      </a:accent5>
      <a:accent6>
        <a:srgbClr val="718A93"/>
      </a:accent6>
      <a:hlink>
        <a:srgbClr val="FCA311"/>
      </a:hlink>
      <a:folHlink>
        <a:srgbClr val="8C8A87"/>
      </a:folHlink>
    </a:clrScheme>
    <a:fontScheme name="Basic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HY (konserni)">
      <a:dk1>
        <a:sysClr val="windowText" lastClr="000000"/>
      </a:dk1>
      <a:lt1>
        <a:srgbClr val="FFFFFF"/>
      </a:lt1>
      <a:dk2>
        <a:srgbClr val="8C8A87"/>
      </a:dk2>
      <a:lt2>
        <a:srgbClr val="FFFFFF"/>
      </a:lt2>
      <a:accent1>
        <a:srgbClr val="8C8A87"/>
      </a:accent1>
      <a:accent2>
        <a:srgbClr val="1E1C77"/>
      </a:accent2>
      <a:accent3>
        <a:srgbClr val="FCA311"/>
      </a:accent3>
      <a:accent4>
        <a:srgbClr val="256EC7"/>
      </a:accent4>
      <a:accent5>
        <a:srgbClr val="8EAC7D"/>
      </a:accent5>
      <a:accent6>
        <a:srgbClr val="718A93"/>
      </a:accent6>
      <a:hlink>
        <a:srgbClr val="FCA311"/>
      </a:hlink>
      <a:folHlink>
        <a:srgbClr val="8C8A87"/>
      </a:folHlink>
    </a:clrScheme>
    <a:fontScheme name="Basic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UH_PowerPoint_template</Template>
  <TotalTime>17774</TotalTime>
  <Words>367</Words>
  <Application>Microsoft Office PowerPoint</Application>
  <PresentationFormat>Laajakuva</PresentationFormat>
  <Paragraphs>35</Paragraphs>
  <Slides>6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11" baseType="lpstr">
      <vt:lpstr>Arial</vt:lpstr>
      <vt:lpstr>Gotham Narrow Bold</vt:lpstr>
      <vt:lpstr>Gotham Narrow Book</vt:lpstr>
      <vt:lpstr>Gotham-Bold</vt:lpstr>
      <vt:lpstr>HY_2016</vt:lpstr>
      <vt:lpstr>Has polarization  increased?</vt:lpstr>
      <vt:lpstr>Polarization – what and why</vt:lpstr>
      <vt:lpstr>The method</vt:lpstr>
      <vt:lpstr>Preliminary results (1/2)</vt:lpstr>
      <vt:lpstr>Preliminary results (2/2)</vt:lpstr>
      <vt:lpstr>Worth of noting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Maarit Vilen</dc:creator>
  <cp:lastModifiedBy>Maarit Vilen</cp:lastModifiedBy>
  <cp:revision>53</cp:revision>
  <dcterms:created xsi:type="dcterms:W3CDTF">2026-03-25T15:52:31Z</dcterms:created>
  <dcterms:modified xsi:type="dcterms:W3CDTF">2026-10-07T10:10:12Z</dcterms:modified>
</cp:coreProperties>
</file>