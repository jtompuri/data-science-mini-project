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</p:sldMasterIdLst>
  <p:notesMasterIdLst>
    <p:notesMasterId r:id="rId9"/>
  </p:notesMasterIdLst>
  <p:handoutMasterIdLst>
    <p:handoutMasterId r:id="rId10"/>
  </p:handoutMasterIdLst>
  <p:sldIdLst>
    <p:sldId id="305" r:id="rId2"/>
    <p:sldId id="301" r:id="rId3"/>
    <p:sldId id="306" r:id="rId4"/>
    <p:sldId id="309" r:id="rId5"/>
    <p:sldId id="307" r:id="rId6"/>
    <p:sldId id="308" r:id="rId7"/>
    <p:sldId id="310" r:id="rId8"/>
  </p:sldIdLst>
  <p:sldSz cx="12192000" cy="6858000"/>
  <p:notesSz cx="6858000" cy="9144000"/>
  <p:defaultTextStyle>
    <a:defPPr>
      <a:defRPr lang="fi-FI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25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6C2A8"/>
    <a:srgbClr val="BA94DC"/>
    <a:srgbClr val="9B9B9B"/>
    <a:srgbClr val="FCFCFC"/>
    <a:srgbClr val="AD81D5"/>
    <a:srgbClr val="E6E6E6"/>
    <a:srgbClr val="3A75C4"/>
    <a:srgbClr val="00BD9D"/>
    <a:srgbClr val="009E6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7" dt="2026-10-14T11:20:48.111"/>
    <p1510:client id="{AB5E2488-145B-49FC-841A-CFF933443F56}" v="2" dt="2026-10-13T11:45:52.660"/>
  </p1510:revLst>
</p1510:revInfo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Vaalea tyyli 2 - Korostus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Vaalea tyyli 2 - Korostus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Vaalea tyyli 2 - Korostus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12C8C85-51F0-491E-9774-3900AFEF0FD7}" styleName="Vaalea tyyli 2 - Korostus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Vaalea tyyli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Vaalea tyyli 3 - Korostus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Normaali tyyli 2 - Korostu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Normaali tyyli 2 - Korost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Normaali tyyli 2 - Korostu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3671" autoAdjust="0"/>
  </p:normalViewPr>
  <p:slideViewPr>
    <p:cSldViewPr>
      <p:cViewPr varScale="1">
        <p:scale>
          <a:sx n="92" d="100"/>
          <a:sy n="92" d="100"/>
        </p:scale>
        <p:origin x="772" y="64"/>
      </p:cViewPr>
      <p:guideLst>
        <p:guide orient="horz" pos="1253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1" d="100"/>
        <a:sy n="201" d="100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486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86D4800B-8753-3B4F-97ED-321E73BD7EDB}" type="datetimeFigureOut">
              <a:rPr lang="fi-FI"/>
              <a:pPr>
                <a:defRPr/>
              </a:pPr>
              <a:t>14.10.2026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2AEE3D99-5224-E842-A8E5-E1EB0FE63541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891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5253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Background: AI-generated conceptual illustration, 12 October 2026. Not an actual event.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Illustration: AI-generated, 12 October 2026. Conceptual illustration, not an actual event, document, or data visualization.</a:t>
            </a:r>
          </a:p>
          <a:p>
            <a:r>
              <a:rPr dirty="0"/>
              <a:t>[/Sources]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Illustration: AI-generated, 12 October 2026. Conceptual illustration, not an actual event, document, or data visualization.</a:t>
            </a:r>
          </a:p>
          <a:p>
            <a:r>
              <a:rPr dirty="0"/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City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group of people posing for a picture&#10;&#10;Description automatically generated">
            <a:extLst>
              <a:ext uri="{FF2B5EF4-FFF2-40B4-BE49-F238E27FC236}">
                <a16:creationId xmlns:a16="http://schemas.microsoft.com/office/drawing/2014/main" id="{78F29810-48EA-1212-7DFB-9D26A5F05C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645" y="188640"/>
            <a:ext cx="11742710" cy="5941506"/>
          </a:xfrm>
          <a:prstGeom prst="rect">
            <a:avLst/>
          </a:prstGeom>
        </p:spPr>
      </p:pic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573016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5A718B7F-5F85-C28A-C408-6732339FAD1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260350"/>
            <a:ext cx="2881312" cy="2376488"/>
          </a:xfrm>
        </p:spPr>
        <p:txBody>
          <a:bodyPr/>
          <a:lstStyle>
            <a:lvl1pPr marL="0" indent="0" algn="ctr">
              <a:spcAft>
                <a:spcPts val="0"/>
              </a:spcAft>
              <a:defRPr sz="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i-FI" dirty="0"/>
              <a:t> </a:t>
            </a:r>
          </a:p>
        </p:txBody>
      </p:sp>
      <p:grpSp>
        <p:nvGrpSpPr>
          <p:cNvPr id="4" name="Ryhmä 3">
            <a:extLst>
              <a:ext uri="{FF2B5EF4-FFF2-40B4-BE49-F238E27FC236}">
                <a16:creationId xmlns:a16="http://schemas.microsoft.com/office/drawing/2014/main" id="{1F4DB45D-291F-AE0F-0E52-9E5ECB4F329E}"/>
              </a:ext>
            </a:extLst>
          </p:cNvPr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5C5E464-2B61-CA3A-2E26-A5E8604A4DD8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BD8BA1-D95E-F112-7435-4891AA53C645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3F1C90A-3A3C-B9BB-741C-82A0C000FAFC}"/>
                </a:ext>
              </a:extLst>
            </p:cNvPr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443312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Viikk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garden&#10;&#10;Description automatically generated">
            <a:extLst>
              <a:ext uri="{FF2B5EF4-FFF2-40B4-BE49-F238E27FC236}">
                <a16:creationId xmlns:a16="http://schemas.microsoft.com/office/drawing/2014/main" id="{C765EE3F-5D64-5397-B54A-6F89F9D38C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194" y="188640"/>
            <a:ext cx="11736000" cy="5938112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294920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3" name="Picture 2" descr="A group of people standing on a deck&#10;&#10;Description automatically generated">
            <a:extLst>
              <a:ext uri="{FF2B5EF4-FFF2-40B4-BE49-F238E27FC236}">
                <a16:creationId xmlns:a16="http://schemas.microsoft.com/office/drawing/2014/main" id="{38B7624C-6043-308B-D01E-EF7B60C335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188640"/>
            <a:ext cx="11729290" cy="5934717"/>
          </a:xfrm>
          <a:prstGeom prst="rect">
            <a:avLst/>
          </a:prstGeom>
        </p:spPr>
      </p:pic>
      <p:grpSp>
        <p:nvGrpSpPr>
          <p:cNvPr id="23" name="Ryhmä 11"/>
          <p:cNvGrpSpPr/>
          <p:nvPr userDrawn="1"/>
        </p:nvGrpSpPr>
        <p:grpSpPr bwMode="white">
          <a:xfrm>
            <a:off x="292432" y="2606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24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5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6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410949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152286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46184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Meilah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hallway&#10;&#10;Description automatically generated">
            <a:extLst>
              <a:ext uri="{FF2B5EF4-FFF2-40B4-BE49-F238E27FC236}">
                <a16:creationId xmlns:a16="http://schemas.microsoft.com/office/drawing/2014/main" id="{C166B75B-41FD-8273-9592-407D277F28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8000" y="188640"/>
            <a:ext cx="11755842" cy="5948151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589275540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Main bui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6000" y="231596"/>
            <a:ext cx="11736000" cy="59337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774160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Viikki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8" y="231696"/>
            <a:ext cx="11736000" cy="59336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90683539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8000" y="207681"/>
            <a:ext cx="11736000" cy="5944036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01750019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0340" y="207479"/>
            <a:ext cx="11736000" cy="594509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721392879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Library win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9" y="207479"/>
            <a:ext cx="11736058" cy="59442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127753636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1342" y="207580"/>
            <a:ext cx="11742657" cy="59441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62571289"/>
      </p:ext>
    </p:extLst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10.jpg" descr="10.jpg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7999" y="207479"/>
            <a:ext cx="11736000" cy="59442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73789879"/>
      </p:ext>
    </p:extLst>
  </p:cSld>
  <p:clrMapOvr>
    <a:masterClrMapping/>
  </p:clrMapOvr>
  <p:transition spd="slow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5000" y="188640"/>
            <a:ext cx="11739000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280857499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10689071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514674485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7" hasCustomPrompt="1"/>
          </p:nvPr>
        </p:nvSpPr>
        <p:spPr>
          <a:xfrm>
            <a:off x="226800" y="226800"/>
            <a:ext cx="11736000" cy="594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800000" anchor="t" anchorCtr="1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sz="3200" b="1">
                <a:solidFill>
                  <a:srgbClr val="00B0F0"/>
                </a:solidFill>
              </a:defRPr>
            </a:lvl1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/>
            </a:pPr>
            <a:r>
              <a:rPr lang="en-US" dirty="0"/>
              <a:t>CLICK ICON TO ADD PICTURE</a:t>
            </a:r>
          </a:p>
        </p:txBody>
      </p:sp>
      <p:sp>
        <p:nvSpPr>
          <p:cNvPr id="12" name="Title Placeholder 1"/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972217"/>
          </a:xfrm>
          <a:prstGeom prst="rect">
            <a:avLst/>
          </a:prstGeom>
          <a:noFill/>
        </p:spPr>
        <p:txBody>
          <a:bodyPr tIns="252000" bIns="36000" anchor="t" anchorCtr="0">
            <a:spAutoFit/>
          </a:bodyPr>
          <a:lstStyle>
            <a:lvl1pPr algn="ctr">
              <a:lnSpc>
                <a:spcPct val="82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/>
              <a:t>Muokkaa ots. perustyyl. napsautt.</a:t>
            </a:r>
            <a:endParaRPr lang="fi-FI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785DCF2-BC03-4AAE-A835-57E4F208A97E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4294632"/>
      </p:ext>
    </p:extLst>
  </p:cSld>
  <p:clrMapOvr>
    <a:masterClrMapping/>
  </p:clrMapOvr>
  <p:transition spd="slow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Kuva 24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ltGray">
          <a:xfrm>
            <a:off x="338667" y="254000"/>
            <a:ext cx="11514667" cy="5905500"/>
          </a:xfrm>
          <a:prstGeom prst="rect">
            <a:avLst/>
          </a:prstGeom>
        </p:spPr>
      </p:pic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4509120"/>
            <a:ext cx="10363200" cy="13716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13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914400" y="2996952"/>
            <a:ext cx="10363200" cy="1296144"/>
          </a:xfrm>
          <a:prstGeom prst="rect">
            <a:avLst/>
          </a:prstGeom>
        </p:spPr>
        <p:txBody>
          <a:bodyPr anchor="ctr" anchorCtr="0"/>
          <a:lstStyle>
            <a:lvl1pPr algn="ctr">
              <a:lnSpc>
                <a:spcPct val="82000"/>
              </a:lnSpc>
              <a:defRPr sz="480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FC139DF-555F-4884-A52D-5104D268AD44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7" name="Ryhmä 11"/>
          <p:cNvGrpSpPr/>
          <p:nvPr userDrawn="1"/>
        </p:nvGrpSpPr>
        <p:grpSpPr bwMode="black">
          <a:xfrm>
            <a:off x="347250" y="260248"/>
            <a:ext cx="2491200" cy="2334818"/>
            <a:chOff x="1311275" y="373063"/>
            <a:chExt cx="6524625" cy="6115050"/>
          </a:xfrm>
          <a:solidFill>
            <a:srgbClr val="000000"/>
          </a:solidFill>
        </p:grpSpPr>
        <p:sp>
          <p:nvSpPr>
            <p:cNvPr id="18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9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0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2405069423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919536" y="716436"/>
            <a:ext cx="9937104" cy="12258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 anchor="t" anchorCtr="0"/>
          <a:lstStyle>
            <a:lvl1pPr algn="ctr">
              <a:lnSpc>
                <a:spcPct val="82000"/>
              </a:lnSpc>
              <a:defRPr sz="4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335360" y="2204865"/>
            <a:ext cx="11521280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92075" indent="0" algn="ctr">
              <a:lnSpc>
                <a:spcPct val="82000"/>
              </a:lnSpc>
              <a:buClr>
                <a:schemeClr val="tx1"/>
              </a:buClr>
              <a:buFont typeface="Arial"/>
              <a:buNone/>
              <a:defRPr>
                <a:latin typeface="+mj-lt"/>
                <a:cs typeface="Gotham narrow bold"/>
              </a:defRPr>
            </a:lvl1pPr>
            <a:lvl2pPr marL="382588" indent="0" algn="ctr">
              <a:lnSpc>
                <a:spcPct val="80000"/>
              </a:lnSpc>
              <a:buFont typeface="Arial"/>
              <a:buNone/>
              <a:defRPr>
                <a:latin typeface="Gotham Narrow Book"/>
                <a:cs typeface="Gotham Narrow Book"/>
              </a:defRPr>
            </a:lvl2pPr>
            <a:lvl3pPr marL="7651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3pPr>
            <a:lvl4pPr marL="124142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4pPr>
            <a:lvl5pPr marL="17176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5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F7FDA8B-5024-41F9-96BA-DE834CBA048A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4570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2997" y="2204865"/>
            <a:ext cx="11029519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0E421AAA-9468-410B-AE58-6AF913CDA27D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444441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4000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1" name="Text Placeholder 2"/>
          <p:cNvSpPr>
            <a:spLocks noGrp="1"/>
          </p:cNvSpPr>
          <p:nvPr>
            <p:ph idx="13" hasCustomPrompt="1"/>
          </p:nvPr>
        </p:nvSpPr>
        <p:spPr bwMode="auto">
          <a:xfrm>
            <a:off x="6480043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6515353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572" y="1988840"/>
            <a:ext cx="5913624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571" y="2996953"/>
            <a:ext cx="5908493" cy="31625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73333" y="254000"/>
            <a:ext cx="5080000" cy="5905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44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Gotham-Bold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7968994"/>
      </p:ext>
    </p:extLst>
  </p:cSld>
  <p:clrMapOvr>
    <a:masterClrMapping/>
  </p:clrMapOvr>
  <p:transition spd="slow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200" y="1988840"/>
            <a:ext cx="5914800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200" y="2996953"/>
            <a:ext cx="5907600" cy="31698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Gotham Narrow Book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Gotham Narrow Book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Gotham Narrow Book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Gotham Narrow Book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Gotham Narrow Book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68000" y="254000"/>
            <a:ext cx="5080000" cy="29527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6768075" y="3212976"/>
            <a:ext cx="5080000" cy="29527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5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1232025-848E-4C1B-A0F3-5B2B3D45746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6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7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0302261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19B7758-116C-4140-B6DB-C1147B26C5EC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041325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5" name="Kuva 5" descr="Kuva, joka sisältää kohteen teksti, luonto, vesi, pilvi&#10;&#10;Kuvaus luotu automaattisesti">
            <a:extLst>
              <a:ext uri="{FF2B5EF4-FFF2-40B4-BE49-F238E27FC236}">
                <a16:creationId xmlns:a16="http://schemas.microsoft.com/office/drawing/2014/main" id="{A0B828C4-7C94-3E95-BECE-9B7F85A3EB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000" y="216753"/>
            <a:ext cx="11736000" cy="59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3579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6" name="Kuva 18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5DD210C1-0D84-67EB-8E6D-E517412F40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34000"/>
            <a:ext cx="11704320" cy="59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17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Kuva 9"/>
          <p:cNvPicPr>
            <a:picLocks noChangeAspect="1"/>
          </p:cNvPicPr>
          <p:nvPr userDrawn="1"/>
        </p:nvPicPr>
        <p:blipFill rotWithShape="1"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hidden">
          <a:xfrm>
            <a:off x="226799" y="215490"/>
            <a:ext cx="11738401" cy="5944010"/>
          </a:xfrm>
          <a:prstGeom prst="rect">
            <a:avLst/>
          </a:prstGeom>
        </p:spPr>
      </p:pic>
      <p:sp>
        <p:nvSpPr>
          <p:cNvPr id="19" name="Title Placeholder 1"/>
          <p:cNvSpPr>
            <a:spLocks noGrp="1"/>
          </p:cNvSpPr>
          <p:nvPr>
            <p:ph type="title"/>
          </p:nvPr>
        </p:nvSpPr>
        <p:spPr bwMode="auto">
          <a:xfrm>
            <a:off x="2063552" y="802411"/>
            <a:ext cx="9722048" cy="970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ots. perustyyl. napsautt.</a:t>
            </a:r>
            <a:endParaRPr lang="en-GB"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063552" y="1981200"/>
            <a:ext cx="9722048" cy="39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GB"/>
          </a:p>
        </p:txBody>
      </p:sp>
      <p:sp>
        <p:nvSpPr>
          <p:cNvPr id="2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10261600" y="6189117"/>
            <a:ext cx="9144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DD08BD52-FDAE-42AB-8313-0991B6AE4759}" type="datetime1">
              <a:rPr lang="en-GB" smtClean="0"/>
              <a:t>14/10/2026</a:t>
            </a:fld>
            <a:endParaRPr lang="fi-FI"/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176000" y="6189117"/>
            <a:ext cx="68064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4669315E-5A66-CF44-AE5D-C333B2F730C4}" type="slidenum">
              <a:rPr lang="en-GB"/>
              <a:t>‹#›</a:t>
            </a:fld>
            <a:endParaRPr lang="en-GB"/>
          </a:p>
        </p:txBody>
      </p:sp>
      <p:sp>
        <p:nvSpPr>
          <p:cNvPr id="24" name="Alatunnisteen paikkamerkki 2"/>
          <p:cNvSpPr>
            <a:spLocks noGrp="1"/>
          </p:cNvSpPr>
          <p:nvPr>
            <p:ph type="ftr" sz="quarter" idx="3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fi-FI"/>
              <a:t>Presentation </a:t>
            </a:r>
            <a:r>
              <a:rPr lang="fi-FI" err="1"/>
              <a:t>Name</a:t>
            </a:r>
            <a:r>
              <a:rPr lang="fi-FI"/>
              <a:t> / </a:t>
            </a:r>
            <a:r>
              <a:rPr lang="fi-FI" err="1"/>
              <a:t>Firstname</a:t>
            </a:r>
            <a:r>
              <a:rPr lang="fi-FI"/>
              <a:t> </a:t>
            </a:r>
            <a:r>
              <a:rPr lang="fi-FI" err="1"/>
              <a:t>Lastname</a:t>
            </a:r>
            <a:endParaRPr lang="fi-FI"/>
          </a:p>
        </p:txBody>
      </p:sp>
      <p:grpSp>
        <p:nvGrpSpPr>
          <p:cNvPr id="25" name="Ryhmä 11"/>
          <p:cNvGrpSpPr/>
          <p:nvPr userDrawn="1"/>
        </p:nvGrpSpPr>
        <p:grpSpPr bwMode="black">
          <a:xfrm>
            <a:off x="334478" y="263539"/>
            <a:ext cx="1397690" cy="1309952"/>
            <a:chOff x="1311275" y="373063"/>
            <a:chExt cx="6524625" cy="6115050"/>
          </a:xfrm>
          <a:solidFill>
            <a:schemeClr val="tx1"/>
          </a:solidFill>
        </p:grpSpPr>
        <p:sp>
          <p:nvSpPr>
            <p:cNvPr id="26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7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8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915" y="6237312"/>
            <a:ext cx="2085975" cy="5429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1" r:id="rId2"/>
    <p:sldLayoutId id="2147483709" r:id="rId3"/>
    <p:sldLayoutId id="2147483695" r:id="rId4"/>
    <p:sldLayoutId id="2147483712" r:id="rId5"/>
    <p:sldLayoutId id="2147483696" r:id="rId6"/>
    <p:sldLayoutId id="2147483698" r:id="rId7"/>
    <p:sldLayoutId id="2147483699" r:id="rId8"/>
    <p:sldLayoutId id="2147483700" r:id="rId9"/>
    <p:sldLayoutId id="2147483702" r:id="rId10"/>
    <p:sldLayoutId id="2147483701" r:id="rId11"/>
    <p:sldLayoutId id="2147483703" r:id="rId12"/>
    <p:sldLayoutId id="2147483704" r:id="rId13"/>
    <p:sldLayoutId id="2147483705" r:id="rId14"/>
    <p:sldLayoutId id="2147483684" r:id="rId15"/>
    <p:sldLayoutId id="2147483680" r:id="rId16"/>
    <p:sldLayoutId id="2147483681" r:id="rId17"/>
    <p:sldLayoutId id="2147483667" r:id="rId18"/>
    <p:sldLayoutId id="2147483669" r:id="rId19"/>
    <p:sldLayoutId id="2147483670" r:id="rId20"/>
    <p:sldLayoutId id="2147483678" r:id="rId21"/>
    <p:sldLayoutId id="2147483683" r:id="rId22"/>
    <p:sldLayoutId id="2147483713" r:id="rId23"/>
    <p:sldLayoutId id="2147483714" r:id="rId24"/>
  </p:sldLayoutIdLst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 kern="1200" cap="all" baseline="0">
          <a:solidFill>
            <a:schemeClr val="tx1"/>
          </a:solidFill>
          <a:latin typeface="+mj-lt"/>
          <a:ea typeface="+mj-ea"/>
          <a:cs typeface="Gotham Narrow Bold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50000"/>
        </a:spcAft>
        <a:buClr>
          <a:schemeClr val="accent1"/>
        </a:buClr>
        <a:buSzPct val="100000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382588" indent="3175" algn="l" rtl="0" eaLnBrk="1" fontAlgn="base" hangingPunct="1">
        <a:spcBef>
          <a:spcPct val="0"/>
        </a:spcBef>
        <a:spcAft>
          <a:spcPct val="50000"/>
        </a:spcAft>
        <a:buClr>
          <a:schemeClr val="tx1"/>
        </a:buClr>
        <a:buSzPct val="100000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525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42875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9050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jtompuri.github.io/data-science-mini-project/#ref-simola202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jtompuri.github.io/data-science-mini-projec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olarisaatio – uusi kuva" descr="Tekoälyllä luotu käsitteellinen kuvitus polarisaatiosta."/>
          <p:cNvPicPr>
            <a:picLocks noChangeAspect="1"/>
          </p:cNvPicPr>
          <p:nvPr/>
        </p:nvPicPr>
        <p:blipFill>
          <a:blip r:embed="rId3"/>
          <a:srcRect t="11726" b="11726"/>
          <a:stretch>
            <a:fillRect/>
          </a:stretch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grpSp>
        <p:nvGrpSpPr>
          <p:cNvPr id="8" name="Ryhmä 11"/>
          <p:cNvGrpSpPr/>
          <p:nvPr/>
        </p:nvGrpSpPr>
        <p:grpSpPr bwMode="white">
          <a:xfrm>
            <a:off x="292431" y="260248"/>
            <a:ext cx="2491195" cy="2334821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0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1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6EDC2816-715E-CCE5-53BA-B2B0588453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438E3508-0C26-D549-826A-AFDD2DA0E2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1</a:t>
            </a:fld>
            <a:endParaRPr lang="en-GB" dirty="0"/>
          </a:p>
        </p:txBody>
      </p:sp>
      <p:sp>
        <p:nvSpPr>
          <p:cNvPr id="5" name="Otsikko 4">
            <a:extLst>
              <a:ext uri="{FF2B5EF4-FFF2-40B4-BE49-F238E27FC236}">
                <a16:creationId xmlns:a16="http://schemas.microsoft.com/office/drawing/2014/main" id="{29B638E7-E2A6-A1D1-87F0-B4077FBEF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1466455"/>
          </a:xfrm>
        </p:spPr>
        <p:txBody>
          <a:bodyPr/>
          <a:lstStyle/>
          <a:p>
            <a:r>
              <a:rPr lang="en-GB">
                <a:latin typeface="Arial"/>
                <a:ea typeface="ＭＳ Ｐゴシック"/>
              </a:rPr>
              <a:t>How far apart are Finnish Parties?</a:t>
            </a:r>
            <a:endParaRPr lang="en-US">
              <a:latin typeface="Arial"/>
              <a:ea typeface="ＭＳ Ｐゴシック"/>
            </a:endParaRPr>
          </a:p>
        </p:txBody>
      </p:sp>
      <p:sp>
        <p:nvSpPr>
          <p:cNvPr id="6" name="Alaotsikko 5">
            <a:extLst>
              <a:ext uri="{FF2B5EF4-FFF2-40B4-BE49-F238E27FC236}">
                <a16:creationId xmlns:a16="http://schemas.microsoft.com/office/drawing/2014/main" id="{CFAF823E-4A84-0C54-C7CD-952F7263CA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i-FI" dirty="0"/>
              <a:t>Karri Lumivirta, Janne Tompuri, Maarit Vilen</a:t>
            </a:r>
          </a:p>
        </p:txBody>
      </p:sp>
      <p:sp>
        <p:nvSpPr>
          <p:cNvPr id="12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1497814266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A69B9-67FA-7234-95F9-FB82B9A4E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8569675-FB9E-B3B3-EB79-08C15CDD0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Polarization – what and why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DC28FA3-778B-E06C-61FC-5088071CA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61111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>
                <a:solidFill>
                  <a:srgbClr val="252B36"/>
                </a:solidFill>
                <a:latin typeface="Arial"/>
              </a:rPr>
              <a:t>Understanding polarization matters for voters and democracy.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>
                <a:solidFill>
                  <a:srgbClr val="252B36"/>
                </a:solidFill>
                <a:latin typeface="Arial"/>
              </a:rPr>
              <a:t>We analysed parliamentary debates to assess whether polarization is increasing.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7F24E1A5-878D-3E2E-DA4A-3964F2A8D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CA17528-3493-0C5A-D28B-89F430B8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2</a:t>
            </a:fld>
            <a:endParaRPr lang="en-GB" dirty="0"/>
          </a:p>
        </p:txBody>
      </p:sp>
      <p:pic>
        <p:nvPicPr>
          <p:cNvPr id="8" name="Kuvitus – dia 2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15882" b="15882"/>
          <a:stretch>
            <a:fillRect/>
          </a:stretch>
        </p:blipFill>
        <p:spPr>
          <a:xfrm>
            <a:off x="7772400" y="2057400"/>
            <a:ext cx="3886200" cy="3977639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906505971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DFDE8-848B-69BC-85B1-FAC91FD41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CD39AAC-D8C6-83C4-E6EB-F1E4709E5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06247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Our data consisted of 130,000 plenary speeches from 2015 to 2026.</a:t>
            </a:r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used AI (Claude) for coding the model and for coding the analysis. </a:t>
            </a:r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dirty="0">
                <a:solidFill>
                  <a:srgbClr val="252B36"/>
                </a:solidFill>
                <a:latin typeface="Arial"/>
              </a:rPr>
              <a:t>Used model was multinominal logistic regression.</a:t>
            </a:r>
            <a:endParaRPr lang="en-GB" sz="2200" noProof="0" dirty="0">
              <a:solidFill>
                <a:srgbClr val="252B36"/>
              </a:solidFill>
              <a:latin typeface="Arial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used the same </a:t>
            </a:r>
            <a:r>
              <a:rPr lang="en-GB" sz="2200" dirty="0">
                <a:solidFill>
                  <a:srgbClr val="252B36"/>
                </a:solidFill>
                <a:latin typeface="Arial"/>
              </a:rPr>
              <a:t>methodology as Simola et al. (</a:t>
            </a:r>
            <a:r>
              <a:rPr lang="en-GB" sz="2200" dirty="0">
                <a:solidFill>
                  <a:srgbClr val="252B36"/>
                </a:solidFill>
                <a:latin typeface="Arial"/>
                <a:hlinkClick r:id="rId3"/>
              </a:rPr>
              <a:t>2023</a:t>
            </a:r>
            <a:r>
              <a:rPr lang="en-GB" sz="2200" dirty="0">
                <a:solidFill>
                  <a:srgbClr val="252B36"/>
                </a:solidFill>
                <a:latin typeface="Arial"/>
              </a:rPr>
              <a:t>) with some additional analysis and inclusion of election data.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21C0563-9C57-60EC-7E91-B9CA40C0FD4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03ECF9A5-5906-F04C-626E-703328208E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F64097EE-7193-519E-CFCE-BB12A2D3F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The method</a:t>
            </a:r>
          </a:p>
        </p:txBody>
      </p:sp>
      <p:sp>
        <p:nvSpPr>
          <p:cNvPr id="6" name="Suorakulmio: Pyöristetyt kulmat 5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223760" y="5120640"/>
            <a:ext cx="4434840" cy="868680"/>
          </a:xfrm>
          <a:prstGeom prst="rect">
            <a:avLst/>
          </a:prstGeom>
          <a:solidFill>
            <a:srgbClr val="E8E1F5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>
                <a:solidFill>
                  <a:srgbClr val="17233C"/>
                </a:solidFill>
                <a:latin typeface="Arial"/>
              </a:defRPr>
            </a:pPr>
            <a:r>
              <a:rPr lang="fi-FI" sz="2200" dirty="0">
                <a:solidFill>
                  <a:srgbClr val="17233C"/>
                </a:solidFill>
                <a:latin typeface="Arial"/>
              </a:rPr>
              <a:t>130.00 </a:t>
            </a:r>
            <a:r>
              <a:rPr lang="fi-FI" sz="2200" dirty="0" err="1">
                <a:solidFill>
                  <a:srgbClr val="17233C"/>
                </a:solidFill>
                <a:latin typeface="Arial"/>
              </a:rPr>
              <a:t>plenary</a:t>
            </a:r>
            <a:r>
              <a:rPr lang="fi-FI" sz="2200" dirty="0">
                <a:solidFill>
                  <a:srgbClr val="17233C"/>
                </a:solidFill>
                <a:latin typeface="Arial"/>
              </a:rPr>
              <a:t> </a:t>
            </a:r>
            <a:r>
              <a:rPr lang="fi-FI" sz="2200" dirty="0" err="1">
                <a:solidFill>
                  <a:srgbClr val="17233C"/>
                </a:solidFill>
                <a:latin typeface="Arial"/>
              </a:rPr>
              <a:t>speechers</a:t>
            </a:r>
            <a:r>
              <a:rPr lang="fi-FI" sz="2200" dirty="0">
                <a:solidFill>
                  <a:srgbClr val="17233C"/>
                </a:solidFill>
                <a:latin typeface="Arial"/>
              </a:rPr>
              <a:t>, 2015-2026</a:t>
            </a:r>
          </a:p>
        </p:txBody>
      </p:sp>
      <p:pic>
        <p:nvPicPr>
          <p:cNvPr id="8" name="Kuvitus – dia 3" descr="AI-generated conceptual illustration. Not an actual event or data visualization."/>
          <p:cNvPicPr>
            <a:picLocks noChangeAspect="1"/>
          </p:cNvPicPr>
          <p:nvPr/>
        </p:nvPicPr>
        <p:blipFill>
          <a:blip r:embed="rId4"/>
          <a:srcRect t="1753" b="1753"/>
          <a:stretch>
            <a:fillRect/>
          </a:stretch>
        </p:blipFill>
        <p:spPr>
          <a:xfrm>
            <a:off x="7223760" y="2057400"/>
            <a:ext cx="4434840" cy="2852928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580857304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A39E5-4B84-754B-647C-85161791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1893644-574F-0423-2D11-AE55441C2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06247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developed a model which is trying to predict the party of the speaker based on the language the politician is using.</a:t>
            </a:r>
          </a:p>
          <a:p>
            <a:pPr marL="434975" indent="-342900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dirty="0">
                <a:solidFill>
                  <a:srgbClr val="252B36"/>
                </a:solidFill>
                <a:latin typeface="Arial"/>
              </a:rPr>
              <a:t>Easier predictions over time indicate greater differences in party language.</a:t>
            </a:r>
            <a:endParaRPr lang="en-GB" dirty="0"/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endParaRPr lang="en-GB" sz="2200" noProof="0" dirty="0">
              <a:solidFill>
                <a:srgbClr val="252B36"/>
              </a:solidFill>
              <a:latin typeface="Arial"/>
            </a:endParaRP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35EE172F-E441-BC53-177C-A5F4D0B4B9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D661E7AB-25BE-2582-6B59-D50F135F94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909EC75F-4AE6-E593-71BF-B8167BB3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>
                <a:solidFill>
                  <a:srgbClr val="17233C"/>
                </a:solidFill>
                <a:latin typeface="Arial"/>
              </a:rPr>
              <a:t>Logic of the model</a:t>
            </a:r>
            <a:endParaRPr lang="en-GB" noProof="0"/>
          </a:p>
        </p:txBody>
      </p:sp>
      <p:sp>
        <p:nvSpPr>
          <p:cNvPr id="14" name="Separability – matching callout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223760" y="4878324"/>
            <a:ext cx="4434840" cy="868680"/>
          </a:xfrm>
          <a:prstGeom prst="rect">
            <a:avLst/>
          </a:prstGeom>
          <a:solidFill>
            <a:srgbClr val="E8E1F5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>
                <a:solidFill>
                  <a:srgbClr val="17233C"/>
                </a:solidFill>
                <a:latin typeface="Arial"/>
              </a:defRPr>
            </a:pPr>
            <a:r>
              <a:rPr lang="fi-FI" sz="2200">
                <a:solidFill>
                  <a:srgbClr val="17233C"/>
                </a:solidFill>
                <a:latin typeface="Arial"/>
              </a:rPr>
              <a:t>1 in 3 correct guesses today, up from 1 in 4</a:t>
            </a:r>
          </a:p>
        </p:txBody>
      </p:sp>
      <p:pic>
        <p:nvPicPr>
          <p:cNvPr id="15" name="Kuvitus – dia 4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9021" b="9021"/>
          <a:stretch>
            <a:fillRect/>
          </a:stretch>
        </p:blipFill>
        <p:spPr>
          <a:xfrm>
            <a:off x="7223760" y="2057400"/>
            <a:ext cx="4434840" cy="2423160"/>
          </a:xfrm>
          <a:prstGeom prst="rect">
            <a:avLst/>
          </a:prstGeom>
        </p:spPr>
      </p:pic>
      <p:sp>
        <p:nvSpPr>
          <p:cNvPr id="16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3077393843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51EC-E027-E81D-24A0-89456F95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isällön paikkamerkki 5">
            <a:extLst>
              <a:ext uri="{FF2B5EF4-FFF2-40B4-BE49-F238E27FC236}">
                <a16:creationId xmlns:a16="http://schemas.microsoft.com/office/drawing/2014/main" id="{18FAA8FB-B19C-2BD8-456A-6C2AB1CE7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466574" y="2132857"/>
            <a:ext cx="4015957" cy="3760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pic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5DE85BDB-3BEE-2E27-8827-7DE721282D1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5AC66208-BC6E-31BD-63B6-DCC47E4130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A26DC647-EBBD-97E2-E0FE-2E7A110E0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Preliminary results </a:t>
            </a:r>
          </a:p>
        </p:txBody>
      </p:sp>
      <p:pic>
        <p:nvPicPr>
          <p:cNvPr id="14" name="Sisällön paikkamerkki 13">
            <a:extLst>
              <a:ext uri="{FF2B5EF4-FFF2-40B4-BE49-F238E27FC236}">
                <a16:creationId xmlns:a16="http://schemas.microsoft.com/office/drawing/2014/main" id="{00656133-2AA3-BD79-6475-7C4D25B80084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rcRect/>
          <a:stretch>
            <a:fillRect/>
          </a:stretch>
        </p:blipFill>
        <p:spPr>
          <a:xfrm>
            <a:off x="6858000" y="2057400"/>
            <a:ext cx="4296522" cy="39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16826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6AADF-3C77-7B28-B6C8-BC4D5FDDD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8D6F2ED-6B89-4CB4-BA75-3224D2ABB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Worth of noting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3A8C2A1-3EB3-9490-58D6-64DE1C4B4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61111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 dirty="0">
                <a:solidFill>
                  <a:srgbClr val="252B36"/>
                </a:solidFill>
                <a:latin typeface="Arial"/>
              </a:rPr>
              <a:t>Parties may discuss different topics: immigration for the Finns, climate for the Greens.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 dirty="0">
                <a:solidFill>
                  <a:srgbClr val="252B36"/>
                </a:solidFill>
                <a:latin typeface="Arial"/>
              </a:rPr>
              <a:t>Three governments across three terms complicate separating trends from government effects.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 dirty="0">
                <a:solidFill>
                  <a:srgbClr val="252B36"/>
                </a:solidFill>
                <a:latin typeface="Arial"/>
              </a:rPr>
              <a:t>The study measures language, not opinions.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dirty="0">
                <a:solidFill>
                  <a:srgbClr val="252B36"/>
                </a:solidFill>
                <a:latin typeface="Arial"/>
              </a:rPr>
              <a:t>A century-long study places peak division in the 1970s. Recent data show Finnish parties moving further apart into two blocs.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EF129A2D-99D2-028D-111F-F1E4673DA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D4EFDA6-4DDF-D5AA-DAD6-1971A5B7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  <p:pic>
        <p:nvPicPr>
          <p:cNvPr id="8" name="Kuvitus – dia 6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15882" b="15882"/>
          <a:stretch>
            <a:fillRect/>
          </a:stretch>
        </p:blipFill>
        <p:spPr>
          <a:xfrm>
            <a:off x="7772400" y="2057400"/>
            <a:ext cx="3886200" cy="3977639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73290444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sällön paikkamerkki 1">
            <a:extLst>
              <a:ext uri="{FF2B5EF4-FFF2-40B4-BE49-F238E27FC236}">
                <a16:creationId xmlns:a16="http://schemas.microsoft.com/office/drawing/2014/main" id="{2956FB44-7374-81CF-97AF-C60AEAB75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926080"/>
            <a:ext cx="5577840" cy="2194560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Link to our blog:</a:t>
            </a: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fi-FI" sz="2200" dirty="0">
                <a:solidFill>
                  <a:srgbClr val="252B36"/>
                </a:solidFill>
                <a:latin typeface="Arial"/>
                <a:hlinkClick r:id="rId3"/>
              </a:rPr>
              <a:t>https://jtompuri.github.io/data-science-mini-project/</a:t>
            </a:r>
            <a:endParaRPr lang="fi-FI" dirty="0">
              <a:solidFill>
                <a:srgbClr val="252B36"/>
              </a:solidFill>
              <a:latin typeface="Arial"/>
            </a:endParaRP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1200" noProof="0" dirty="0">
                <a:solidFill>
                  <a:srgbClr val="252B36"/>
                </a:solidFill>
                <a:latin typeface="Arial"/>
              </a:rPr>
              <a:t>AI (Microsoft copilot) has been used to improve the layout and language of the slides.</a:t>
            </a:r>
          </a:p>
          <a:p>
            <a:pPr marL="92075" indent="0"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1200" noProof="0" dirty="0">
                <a:solidFill>
                  <a:srgbClr val="252B36"/>
                </a:solidFill>
                <a:latin typeface="Arial"/>
              </a:rPr>
              <a:t>References: Simola, Salla, Jeremias Nieminen, and Janne Tukiainen. 2023. “A Century of Partisanship in Finnish Political Speech.” </a:t>
            </a:r>
            <a:r>
              <a:rPr lang="en-GB" sz="1200" i="1" noProof="0" dirty="0">
                <a:solidFill>
                  <a:srgbClr val="252B36"/>
                </a:solidFill>
                <a:latin typeface="Arial"/>
              </a:rPr>
              <a:t>Aboa Centre for Economics Discussion Paper</a:t>
            </a:r>
            <a:r>
              <a:rPr lang="en-GB" sz="1200" noProof="0" dirty="0">
                <a:solidFill>
                  <a:srgbClr val="252B36"/>
                </a:solidFill>
                <a:latin typeface="Arial"/>
              </a:rPr>
              <a:t>, no. 160.</a:t>
            </a:r>
          </a:p>
        </p:txBody>
      </p:sp>
      <p:pic>
        <p:nvPicPr>
          <p:cNvPr id="9" name="Kuvitus – avoin kirja" descr="AI-generated conceptual illustration of shared knowledge.">
            <a:extLst>
              <a:ext uri="{FF2B5EF4-FFF2-40B4-BE49-F238E27FC236}">
                <a16:creationId xmlns:a16="http://schemas.microsoft.com/office/drawing/2014/main" id="{974F52F4-0E95-F024-3C30-00E67F9A0977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23760" y="2057400"/>
            <a:ext cx="4434840" cy="3977639"/>
          </a:xfrm>
        </p:spPr>
      </p:pic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D2D38E17-A76E-BA76-CB4E-0398096ECB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0D2E0DC1-1349-B8F7-745D-4FA6DD979B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sp>
        <p:nvSpPr>
          <p:cNvPr id="7" name="Otsikko 6">
            <a:extLst>
              <a:ext uri="{FF2B5EF4-FFF2-40B4-BE49-F238E27FC236}">
                <a16:creationId xmlns:a16="http://schemas.microsoft.com/office/drawing/2014/main" id="{166E1DDA-A3A1-5066-CAE5-4ACC95A98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Thank you!</a:t>
            </a:r>
          </a:p>
        </p:txBody>
      </p:sp>
      <p:sp>
        <p:nvSpPr>
          <p:cNvPr id="10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781578129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HY_2016">
  <a:themeElements>
    <a:clrScheme name="HY2016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0E4073"/>
      </a:accent1>
      <a:accent2>
        <a:srgbClr val="7B3CB4"/>
      </a:accent2>
      <a:accent3>
        <a:srgbClr val="45BC9F"/>
      </a:accent3>
      <a:accent4>
        <a:srgbClr val="A5E363"/>
      </a:accent4>
      <a:accent5>
        <a:srgbClr val="7ECEF1"/>
      </a:accent5>
      <a:accent6>
        <a:srgbClr val="FFE263"/>
      </a:accent6>
      <a:hlink>
        <a:srgbClr val="0091D0"/>
      </a:hlink>
      <a:folHlink>
        <a:srgbClr val="8C8A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>
          <a:noFill/>
        </a:ln>
        <a:extLst>
          <a:ext uri="{909E8E84-426E-40dd-AFC4-6F175D3DCCD1}">
            <a14:hiddenFill xmlns=""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=""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  <a:ext uri="{FAA26D3D-D897-4be2-8F04-BA451C77F1D7}">
            <ma14:placeholderFlag xmlns="" xmlns:ma14="http://schemas.microsoft.com/office/mac/drawingml/2011/main" val="1"/>
          </a:ext>
        </a:extLst>
      </a:spPr>
      <a:bodyPr vert="horz" wrap="square" lIns="0" tIns="0" rIns="0" bIns="0" numCol="1" anchor="ctr" anchorCtr="0" compatLnSpc="1">
        <a:prstTxWarp prst="textNoShape">
          <a:avLst/>
        </a:prstTxWarp>
      </a:bodyPr>
      <a:lstStyle>
        <a:defPPr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UH PowerPoint template.potx" id="{35C01FC7-82E0-44FA-86F9-FAEB67B82913}" vid="{25A96B2A-1781-41C4-8E05-45413AECF410}"/>
    </a:ext>
  </a:extLst>
</a:theme>
</file>

<file path=ppt/theme/theme2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HY (konserni)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8C8A87"/>
      </a:accent1>
      <a:accent2>
        <a:srgbClr val="1E1C77"/>
      </a:accent2>
      <a:accent3>
        <a:srgbClr val="FCA311"/>
      </a:accent3>
      <a:accent4>
        <a:srgbClr val="256EC7"/>
      </a:accent4>
      <a:accent5>
        <a:srgbClr val="8EAC7D"/>
      </a:accent5>
      <a:accent6>
        <a:srgbClr val="718A93"/>
      </a:accent6>
      <a:hlink>
        <a:srgbClr val="FCA311"/>
      </a:hlink>
      <a:folHlink>
        <a:srgbClr val="8C8A87"/>
      </a:folHlink>
    </a:clrScheme>
    <a:fontScheme name="Basic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UH_PowerPoint_template</Template>
  <TotalTime>25978</TotalTime>
  <Words>614</Words>
  <Application>Microsoft Office PowerPoint</Application>
  <PresentationFormat>Laajakuva</PresentationFormat>
  <Paragraphs>76</Paragraphs>
  <Slides>7</Slides>
  <Notes>6</Notes>
  <HiddenSlides>0</HiddenSlides>
  <MMClips>0</MMClips>
  <ScaleCrop>false</ScaleCrop>
  <HeadingPairs>
    <vt:vector size="6" baseType="variant">
      <vt:variant>
        <vt:lpstr>Käytetyt fontit</vt:lpstr>
      </vt:variant>
      <vt:variant>
        <vt:i4>4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7</vt:i4>
      </vt:variant>
    </vt:vector>
  </HeadingPairs>
  <TitlesOfParts>
    <vt:vector size="12" baseType="lpstr">
      <vt:lpstr>Arial</vt:lpstr>
      <vt:lpstr>Gotham Narrow Bold</vt:lpstr>
      <vt:lpstr>Gotham Narrow Book</vt:lpstr>
      <vt:lpstr>Gotham-Bold</vt:lpstr>
      <vt:lpstr>HY_2016</vt:lpstr>
      <vt:lpstr>How far apart are Finnish Parties?</vt:lpstr>
      <vt:lpstr>Polarization – what and why</vt:lpstr>
      <vt:lpstr>The method</vt:lpstr>
      <vt:lpstr>Logic of the model</vt:lpstr>
      <vt:lpstr>Preliminary results </vt:lpstr>
      <vt:lpstr>Worth of noting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Maarit Vilen</dc:creator>
  <cp:lastModifiedBy>Maarit Vilen</cp:lastModifiedBy>
  <cp:revision>74</cp:revision>
  <dcterms:created xsi:type="dcterms:W3CDTF">2026-03-25T15:52:31Z</dcterms:created>
  <dcterms:modified xsi:type="dcterms:W3CDTF">2026-10-14T14:06:50Z</dcterms:modified>
</cp:coreProperties>
</file>